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E3"/>
    <a:srgbClr val="990033"/>
    <a:srgbClr val="6A0C29"/>
    <a:srgbClr val="A313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20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622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965960"/>
            <a:ext cx="10515600" cy="914400"/>
          </a:xfrm>
          <a:prstGeom prst="rect">
            <a:avLst/>
          </a:prstGeom>
          <a:noFill/>
          <a:ln/>
        </p:spPr>
        <p:txBody>
          <a:bodyPr wrap="square" rtlCol="0" anchor="ctr"/>
          <a:lstStyle/>
          <a:p>
            <a:pPr marL="0" indent="0" algn="ctr">
              <a:buNone/>
            </a:pPr>
            <a:r>
              <a:rPr lang="en-US" sz="4000" b="1" dirty="0">
                <a:solidFill>
                  <a:srgbClr val="6A0C29"/>
                </a:solidFill>
                <a:latin typeface="Aptos" panose="020B0004020202020204" pitchFamily="34" charset="0"/>
                <a:ea typeface="Calibri" pitchFamily="34" charset="-122"/>
                <a:cs typeface="Calibri" pitchFamily="34" charset="-120"/>
              </a:rPr>
              <a:t>HIDDEN MARKET STATES</a:t>
            </a:r>
            <a:endParaRPr lang="en-US" sz="4000" dirty="0">
              <a:solidFill>
                <a:srgbClr val="6A0C29"/>
              </a:solidFill>
              <a:latin typeface="Aptos" panose="020B0004020202020204" pitchFamily="34" charset="0"/>
            </a:endParaRPr>
          </a:p>
        </p:txBody>
      </p:sp>
      <p:sp>
        <p:nvSpPr>
          <p:cNvPr id="3" name="Text 1"/>
          <p:cNvSpPr/>
          <p:nvPr/>
        </p:nvSpPr>
        <p:spPr>
          <a:xfrm>
            <a:off x="822960" y="2628900"/>
            <a:ext cx="10515600" cy="502920"/>
          </a:xfrm>
          <a:prstGeom prst="rect">
            <a:avLst/>
          </a:prstGeom>
          <a:noFill/>
          <a:ln/>
        </p:spPr>
        <p:txBody>
          <a:bodyPr wrap="square" rtlCol="0" anchor="ctr"/>
          <a:lstStyle/>
          <a:p>
            <a:pPr marL="0" indent="0" algn="ctr">
              <a:buNone/>
            </a:pPr>
            <a:r>
              <a:rPr lang="en-US" sz="1800" dirty="0">
                <a:solidFill>
                  <a:srgbClr val="990033"/>
                </a:solidFill>
                <a:latin typeface="Aptos" panose="020B0004020202020204" pitchFamily="34" charset="0"/>
                <a:ea typeface="Calibri" pitchFamily="34" charset="-122"/>
                <a:cs typeface="Calibri" pitchFamily="34" charset="-120"/>
              </a:rPr>
              <a:t>Financial Market Regime Detection Using Hidden Markov Models</a:t>
            </a:r>
            <a:endParaRPr lang="en-US" sz="1800" dirty="0">
              <a:solidFill>
                <a:srgbClr val="990033"/>
              </a:solidFill>
              <a:latin typeface="Aptos" panose="020B0004020202020204" pitchFamily="34" charset="0"/>
            </a:endParaRPr>
          </a:p>
        </p:txBody>
      </p:sp>
      <p:sp>
        <p:nvSpPr>
          <p:cNvPr id="4" name="Text 2"/>
          <p:cNvSpPr/>
          <p:nvPr/>
        </p:nvSpPr>
        <p:spPr>
          <a:xfrm>
            <a:off x="853440" y="3092796"/>
            <a:ext cx="10515600" cy="411480"/>
          </a:xfrm>
          <a:prstGeom prst="rect">
            <a:avLst/>
          </a:prstGeom>
          <a:noFill/>
          <a:ln/>
        </p:spPr>
        <p:txBody>
          <a:bodyPr wrap="square" rtlCol="0" anchor="ctr"/>
          <a:lstStyle/>
          <a:p>
            <a:pPr marL="0" indent="0" algn="ctr">
              <a:buNone/>
            </a:pPr>
            <a:r>
              <a:rPr lang="en-US" sz="1400" i="1" dirty="0">
                <a:solidFill>
                  <a:srgbClr val="6E6E6E"/>
                </a:solidFill>
                <a:latin typeface="Aptos" panose="020B0004020202020204" pitchFamily="34" charset="0"/>
                <a:ea typeface="Calibri" pitchFamily="34" charset="-122"/>
                <a:cs typeface="Calibri" pitchFamily="34" charset="-120"/>
              </a:rPr>
              <a:t>with Baum–Welch Parameter Learning and Viterbi Decoding</a:t>
            </a:r>
            <a:endParaRPr lang="en-US" sz="1400" dirty="0">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Project Abstract</a:t>
            </a:r>
            <a:endParaRPr lang="en-US" sz="2800" dirty="0"/>
          </a:p>
        </p:txBody>
      </p:sp>
      <p:sp>
        <p:nvSpPr>
          <p:cNvPr id="4" name="Text 2"/>
          <p:cNvSpPr/>
          <p:nvPr/>
        </p:nvSpPr>
        <p:spPr>
          <a:xfrm>
            <a:off x="548640" y="1463040"/>
            <a:ext cx="11091672" cy="1188720"/>
          </a:xfrm>
          <a:prstGeom prst="rect">
            <a:avLst/>
          </a:prstGeom>
          <a:noFill/>
          <a:ln/>
        </p:spPr>
        <p:txBody>
          <a:bodyPr wrap="square" rtlCol="0" anchor="ctr"/>
          <a:lstStyle/>
          <a:p>
            <a:pPr marL="0" indent="0">
              <a:lnSpc>
                <a:spcPct val="120000"/>
              </a:lnSpc>
              <a:buNone/>
            </a:pPr>
            <a:r>
              <a:rPr lang="en-US" sz="1450" dirty="0">
                <a:solidFill>
                  <a:srgbClr val="3D3D3D"/>
                </a:solidFill>
                <a:latin typeface="Calibri" pitchFamily="34" charset="0"/>
                <a:ea typeface="Calibri" pitchFamily="34" charset="-122"/>
                <a:cs typeface="Calibri" pitchFamily="34" charset="-120"/>
              </a:rPr>
              <a:t>Financial markets are commonly treated as noisy, unstructured sequences of price observations. This project proposes an alternative view: that the apparent complexity of market behaviour can, to a meaningful extent, be explained by a small number of latent behavioural regimes — Bull, Bear, and Sideways.</a:t>
            </a:r>
            <a:endParaRPr lang="en-US" sz="1450" dirty="0"/>
          </a:p>
        </p:txBody>
      </p:sp>
      <p:sp>
        <p:nvSpPr>
          <p:cNvPr id="5" name="Text 3"/>
          <p:cNvSpPr/>
          <p:nvPr/>
        </p:nvSpPr>
        <p:spPr>
          <a:xfrm>
            <a:off x="548640" y="2880360"/>
            <a:ext cx="3514344" cy="36576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Modelling Approach</a:t>
            </a:r>
            <a:endParaRPr lang="en-US" sz="1400" dirty="0"/>
          </a:p>
        </p:txBody>
      </p:sp>
      <p:sp>
        <p:nvSpPr>
          <p:cNvPr id="6" name="Text 4"/>
          <p:cNvSpPr/>
          <p:nvPr/>
        </p:nvSpPr>
        <p:spPr>
          <a:xfrm>
            <a:off x="548640" y="3291840"/>
            <a:ext cx="3514344" cy="2468880"/>
          </a:xfrm>
          <a:prstGeom prst="rect">
            <a:avLst/>
          </a:prstGeom>
          <a:noFill/>
          <a:ln/>
        </p:spPr>
        <p:txBody>
          <a:bodyPr wrap="square" rtlCol="0" anchor="t"/>
          <a:lstStyle/>
          <a:p>
            <a:pPr marL="0" indent="0">
              <a:lnSpc>
                <a:spcPct val="118000"/>
              </a:lnSpc>
              <a:buNone/>
            </a:pPr>
            <a:r>
              <a:rPr lang="en-US" sz="1200" dirty="0">
                <a:solidFill>
                  <a:srgbClr val="3D3D3D"/>
                </a:solidFill>
                <a:latin typeface="Calibri" pitchFamily="34" charset="0"/>
                <a:ea typeface="Calibri" pitchFamily="34" charset="-122"/>
                <a:cs typeface="Calibri" pitchFamily="34" charset="-120"/>
              </a:rPr>
              <a:t>The market is modelled as a Hidden Markov Model (HMM): observable quantities (return, volatility, volume, momentum) are generated by an underlying, unobserved regime that evolves through Markovian dynamics.</a:t>
            </a:r>
            <a:endParaRPr lang="en-US" sz="1200" dirty="0"/>
          </a:p>
        </p:txBody>
      </p:sp>
      <p:sp>
        <p:nvSpPr>
          <p:cNvPr id="7" name="Text 5"/>
          <p:cNvSpPr/>
          <p:nvPr/>
        </p:nvSpPr>
        <p:spPr>
          <a:xfrm>
            <a:off x="4337304" y="2880360"/>
            <a:ext cx="3514344" cy="36576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Learning &amp; Decoding</a:t>
            </a:r>
            <a:endParaRPr lang="en-US" sz="1400" dirty="0"/>
          </a:p>
        </p:txBody>
      </p:sp>
      <p:sp>
        <p:nvSpPr>
          <p:cNvPr id="8" name="Text 6"/>
          <p:cNvSpPr/>
          <p:nvPr/>
        </p:nvSpPr>
        <p:spPr>
          <a:xfrm>
            <a:off x="4337304" y="3291840"/>
            <a:ext cx="3514344" cy="2468880"/>
          </a:xfrm>
          <a:prstGeom prst="rect">
            <a:avLst/>
          </a:prstGeom>
          <a:noFill/>
          <a:ln/>
        </p:spPr>
        <p:txBody>
          <a:bodyPr wrap="square" rtlCol="0" anchor="t"/>
          <a:lstStyle/>
          <a:p>
            <a:pPr marL="0" indent="0">
              <a:lnSpc>
                <a:spcPct val="118000"/>
              </a:lnSpc>
              <a:buNone/>
            </a:pPr>
            <a:r>
              <a:rPr lang="en-US" sz="1200" dirty="0">
                <a:solidFill>
                  <a:srgbClr val="3D3D3D"/>
                </a:solidFill>
                <a:latin typeface="Calibri" pitchFamily="34" charset="0"/>
                <a:ea typeface="Calibri" pitchFamily="34" charset="-122"/>
                <a:cs typeface="Calibri" pitchFamily="34" charset="-120"/>
              </a:rPr>
              <a:t>Baum–Welch (EM built on Forward–Backward) learns π, A, and B directly from unlabelled historical data. Viterbi then decodes the single most probable hidden-state sequence.</a:t>
            </a:r>
            <a:endParaRPr lang="en-US" sz="1200" dirty="0"/>
          </a:p>
        </p:txBody>
      </p:sp>
      <p:sp>
        <p:nvSpPr>
          <p:cNvPr id="9" name="Text 7"/>
          <p:cNvSpPr/>
          <p:nvPr/>
        </p:nvSpPr>
        <p:spPr>
          <a:xfrm>
            <a:off x="8125968" y="2880360"/>
            <a:ext cx="3514344" cy="36576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Interpretation &amp; Delivery</a:t>
            </a:r>
            <a:endParaRPr lang="en-US" sz="1400" dirty="0"/>
          </a:p>
        </p:txBody>
      </p:sp>
      <p:sp>
        <p:nvSpPr>
          <p:cNvPr id="10" name="Text 8"/>
          <p:cNvSpPr/>
          <p:nvPr/>
        </p:nvSpPr>
        <p:spPr>
          <a:xfrm>
            <a:off x="8125968" y="3291840"/>
            <a:ext cx="3514344" cy="2468880"/>
          </a:xfrm>
          <a:prstGeom prst="rect">
            <a:avLst/>
          </a:prstGeom>
          <a:noFill/>
          <a:ln/>
        </p:spPr>
        <p:txBody>
          <a:bodyPr wrap="square" rtlCol="0" anchor="t"/>
          <a:lstStyle/>
          <a:p>
            <a:pPr marL="0" indent="0">
              <a:lnSpc>
                <a:spcPct val="118000"/>
              </a:lnSpc>
              <a:buNone/>
            </a:pPr>
            <a:r>
              <a:rPr lang="en-US" sz="1200" dirty="0">
                <a:solidFill>
                  <a:srgbClr val="3D3D3D"/>
                </a:solidFill>
                <a:latin typeface="Calibri" pitchFamily="34" charset="0"/>
                <a:ea typeface="Calibri" pitchFamily="34" charset="-122"/>
                <a:cs typeface="Calibri" pitchFamily="34" charset="-120"/>
              </a:rPr>
              <a:t>Learned states are mapped to Bull / Bear / Sideways using their statistical signatures. Delivered as a from-scratch NumPy implementation plus a Gaussian-emission HMM on real S&amp;P 500 data, via an interactive dashboard.</a:t>
            </a:r>
            <a:endParaRPr lang="en-US" sz="1200" dirty="0"/>
          </a:p>
        </p:txBody>
      </p:sp>
      <p:sp>
        <p:nvSpPr>
          <p:cNvPr id="11" name="Text 9"/>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12" name="Text 10"/>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Background and Motivation</a:t>
            </a:r>
            <a:endParaRPr lang="en-US" sz="2800" dirty="0"/>
          </a:p>
        </p:txBody>
      </p:sp>
      <p:sp>
        <p:nvSpPr>
          <p:cNvPr id="4" name="Text 2"/>
          <p:cNvSpPr/>
          <p:nvPr/>
        </p:nvSpPr>
        <p:spPr>
          <a:xfrm>
            <a:off x="548640" y="1417320"/>
            <a:ext cx="5486400" cy="32004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1.1  Background</a:t>
            </a:r>
            <a:endParaRPr lang="en-US" sz="1500" dirty="0"/>
          </a:p>
        </p:txBody>
      </p:sp>
      <p:sp>
        <p:nvSpPr>
          <p:cNvPr id="5" name="Text 3"/>
          <p:cNvSpPr/>
          <p:nvPr/>
        </p:nvSpPr>
        <p:spPr>
          <a:xfrm>
            <a:off x="548640" y="1783080"/>
            <a:ext cx="5486400" cy="2468880"/>
          </a:xfrm>
          <a:prstGeom prst="rect">
            <a:avLst/>
          </a:prstGeom>
          <a:noFill/>
          <a:ln/>
        </p:spPr>
        <p:txBody>
          <a:bodyPr wrap="square" rtlCol="0" anchor="t"/>
          <a:lstStyle/>
          <a:p>
            <a:pPr marL="0" indent="0">
              <a:lnSpc>
                <a:spcPct val="120000"/>
              </a:lnSpc>
              <a:buNone/>
            </a:pPr>
            <a:r>
              <a:rPr lang="en-US" sz="1250" dirty="0">
                <a:solidFill>
                  <a:srgbClr val="3D3D3D"/>
                </a:solidFill>
                <a:latin typeface="Calibri" pitchFamily="34" charset="0"/>
                <a:ea typeface="Calibri" pitchFamily="34" charset="-122"/>
                <a:cs typeface="Calibri" pitchFamily="34" charset="-120"/>
              </a:rPr>
              <a:t>Stock markets are widely believed to move through distinct behavioural phases — sustained upward growth (Bull), sustained decline (Bear), and range-bound, low-conviction movement (Sideways). This regime is never directly observed; only prices, returns, volatilities, and volumes are. Recovering an unobserved state from a sequence of probabilistically related emissions is precisely the structure an HMM is designed to solve.</a:t>
            </a:r>
            <a:endParaRPr lang="en-US" sz="1250" dirty="0"/>
          </a:p>
        </p:txBody>
      </p:sp>
      <p:sp>
        <p:nvSpPr>
          <p:cNvPr id="6" name="Text 4"/>
          <p:cNvSpPr/>
          <p:nvPr/>
        </p:nvSpPr>
        <p:spPr>
          <a:xfrm>
            <a:off x="6309360" y="1417320"/>
            <a:ext cx="5349240" cy="32004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1.2  Motivation</a:t>
            </a:r>
            <a:endParaRPr lang="en-US" sz="1500" dirty="0"/>
          </a:p>
        </p:txBody>
      </p:sp>
      <p:sp>
        <p:nvSpPr>
          <p:cNvPr id="7" name="Text 5"/>
          <p:cNvSpPr/>
          <p:nvPr/>
        </p:nvSpPr>
        <p:spPr>
          <a:xfrm>
            <a:off x="6309360" y="1783080"/>
            <a:ext cx="5349240" cy="2468880"/>
          </a:xfrm>
          <a:prstGeom prst="rect">
            <a:avLst/>
          </a:prstGeom>
          <a:noFill/>
          <a:ln/>
        </p:spPr>
        <p:txBody>
          <a:bodyPr wrap="square" rtlCol="0" anchor="t"/>
          <a:lstStyle/>
          <a:p>
            <a:pPr marL="0" indent="0">
              <a:lnSpc>
                <a:spcPct val="120000"/>
              </a:lnSpc>
              <a:buNone/>
            </a:pPr>
            <a:r>
              <a:rPr lang="en-US" sz="1250" dirty="0">
                <a:solidFill>
                  <a:srgbClr val="3D3D3D"/>
                </a:solidFill>
                <a:latin typeface="Calibri" pitchFamily="34" charset="0"/>
                <a:ea typeface="Calibri" pitchFamily="34" charset="-122"/>
                <a:cs typeface="Calibri" pitchFamily="34" charset="-120"/>
              </a:rPr>
              <a:t>Most introductory ML finance projects default to price prediction with deep sequence models (LSTM, Transformers). This project deliberately takes a classical route: modelling the market as a stochastic process governed by a small number of latent states — mathematically transparent, computationally lightweight, and interpretable, since every learned parameter has a direct financial meaning.</a:t>
            </a:r>
            <a:endParaRPr lang="en-US" sz="1250" dirty="0"/>
          </a:p>
        </p:txBody>
      </p:sp>
      <p:sp>
        <p:nvSpPr>
          <p:cNvPr id="8" name="Shape 6"/>
          <p:cNvSpPr/>
          <p:nvPr/>
        </p:nvSpPr>
        <p:spPr>
          <a:xfrm>
            <a:off x="548640" y="4434840"/>
            <a:ext cx="11091672" cy="0"/>
          </a:xfrm>
          <a:prstGeom prst="line">
            <a:avLst/>
          </a:prstGeom>
          <a:noFill/>
          <a:ln w="9525">
            <a:solidFill>
              <a:srgbClr val="D9D9D9"/>
            </a:solidFill>
            <a:prstDash val="solid"/>
          </a:ln>
        </p:spPr>
        <p:txBody>
          <a:bodyPr/>
          <a:lstStyle/>
          <a:p>
            <a:endParaRPr lang="en-IN"/>
          </a:p>
        </p:txBody>
      </p:sp>
      <p:sp>
        <p:nvSpPr>
          <p:cNvPr id="9" name="Text 7"/>
          <p:cNvSpPr/>
          <p:nvPr/>
        </p:nvSpPr>
        <p:spPr>
          <a:xfrm>
            <a:off x="548640" y="4617720"/>
            <a:ext cx="110916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Why HMMs, specifically</a:t>
            </a:r>
            <a:endParaRPr lang="en-US" sz="1400" dirty="0"/>
          </a:p>
        </p:txBody>
      </p:sp>
      <p:sp>
        <p:nvSpPr>
          <p:cNvPr id="10" name="Text 8"/>
          <p:cNvSpPr/>
          <p:nvPr/>
        </p:nvSpPr>
        <p:spPr>
          <a:xfrm>
            <a:off x="548640" y="4937760"/>
            <a:ext cx="11091672" cy="1645920"/>
          </a:xfrm>
          <a:prstGeom prst="rect">
            <a:avLst/>
          </a:prstGeom>
          <a:noFill/>
          <a:ln/>
        </p:spPr>
        <p:txBody>
          <a:bodyPr wrap="square" rtlCol="0" anchor="t"/>
          <a:lstStyle/>
          <a:p>
            <a:pPr marL="228600" indent="-228600">
              <a:lnSpc>
                <a:spcPct val="112000"/>
              </a:lnSpc>
              <a:spcAft>
                <a:spcPts val="1000"/>
              </a:spcAft>
              <a:buSzPct val="100000"/>
              <a:buChar char="•"/>
            </a:pPr>
            <a:r>
              <a:rPr lang="en-US" sz="1250" dirty="0">
                <a:solidFill>
                  <a:srgbClr val="3D3D3D"/>
                </a:solidFill>
                <a:latin typeface="Calibri" pitchFamily="34" charset="0"/>
                <a:ea typeface="Calibri" pitchFamily="34" charset="-122"/>
                <a:cs typeface="Calibri" pitchFamily="34" charset="-120"/>
              </a:rPr>
              <a:t>A long history in speech recognition, bioinformatics, and increasingly, quantitative finance for regime-switching returns</a:t>
            </a:r>
            <a:endParaRPr lang="en-US" sz="1250" dirty="0"/>
          </a:p>
          <a:p>
            <a:pPr marL="228600" indent="-228600">
              <a:lnSpc>
                <a:spcPct val="112000"/>
              </a:lnSpc>
              <a:spcAft>
                <a:spcPts val="1000"/>
              </a:spcAft>
              <a:buSzPct val="100000"/>
              <a:buChar char="•"/>
            </a:pPr>
            <a:r>
              <a:rPr lang="en-US" sz="1250" dirty="0">
                <a:solidFill>
                  <a:srgbClr val="3D3D3D"/>
                </a:solidFill>
                <a:latin typeface="Calibri" pitchFamily="34" charset="0"/>
                <a:ea typeface="Calibri" pitchFamily="34" charset="-122"/>
                <a:cs typeface="Calibri" pitchFamily="34" charset="-120"/>
              </a:rPr>
              <a:t>No hand-labelled regime data is required — states are discovered purely from structure in the observations</a:t>
            </a:r>
            <a:endParaRPr lang="en-US" sz="1250" dirty="0"/>
          </a:p>
          <a:p>
            <a:pPr marL="228600" indent="-228600">
              <a:lnSpc>
                <a:spcPct val="112000"/>
              </a:lnSpc>
              <a:spcAft>
                <a:spcPts val="1000"/>
              </a:spcAft>
              <a:buSzPct val="100000"/>
              <a:buChar char="•"/>
            </a:pPr>
            <a:r>
              <a:rPr lang="en-US" sz="1250" dirty="0">
                <a:solidFill>
                  <a:srgbClr val="3D3D3D"/>
                </a:solidFill>
                <a:latin typeface="Calibri" pitchFamily="34" charset="0"/>
                <a:ea typeface="Calibri" pitchFamily="34" charset="-122"/>
                <a:cs typeface="Calibri" pitchFamily="34" charset="-120"/>
              </a:rPr>
              <a:t>Every parameter (mean return, volatility, persistence) is directly interpretable in financial terms</a:t>
            </a:r>
            <a:endParaRPr lang="en-US" sz="1250" dirty="0"/>
          </a:p>
        </p:txBody>
      </p:sp>
      <p:sp>
        <p:nvSpPr>
          <p:cNvPr id="11" name="Text 9"/>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12" name="Text 10"/>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Problem Statement, Question &amp; Hypothesis</a:t>
            </a:r>
            <a:endParaRPr lang="en-US" sz="2800" dirty="0"/>
          </a:p>
        </p:txBody>
      </p:sp>
      <p:sp>
        <p:nvSpPr>
          <p:cNvPr id="4" name="Text 2"/>
          <p:cNvSpPr/>
          <p:nvPr/>
        </p:nvSpPr>
        <p:spPr>
          <a:xfrm>
            <a:off x="548640" y="1417320"/>
            <a:ext cx="11091672" cy="32004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Problem Statement</a:t>
            </a:r>
            <a:endParaRPr lang="en-US" sz="1500" dirty="0"/>
          </a:p>
        </p:txBody>
      </p:sp>
      <p:sp>
        <p:nvSpPr>
          <p:cNvPr id="5" name="Text 3"/>
          <p:cNvSpPr/>
          <p:nvPr/>
        </p:nvSpPr>
        <p:spPr>
          <a:xfrm>
            <a:off x="548640" y="1755648"/>
            <a:ext cx="11091672" cy="868680"/>
          </a:xfrm>
          <a:prstGeom prst="rect">
            <a:avLst/>
          </a:prstGeom>
          <a:noFill/>
          <a:ln/>
        </p:spPr>
        <p:txBody>
          <a:bodyPr wrap="square" rtlCol="0" anchor="t"/>
          <a:lstStyle/>
          <a:p>
            <a:pPr marL="0" indent="0">
              <a:lnSpc>
                <a:spcPct val="118000"/>
              </a:lnSpc>
              <a:buNone/>
            </a:pPr>
            <a:r>
              <a:rPr lang="en-US" sz="1250" dirty="0">
                <a:solidFill>
                  <a:srgbClr val="3D3D3D"/>
                </a:solidFill>
                <a:latin typeface="Calibri" pitchFamily="34" charset="0"/>
                <a:ea typeface="Calibri" pitchFamily="34" charset="-122"/>
                <a:cs typeface="Calibri" pitchFamily="34" charset="-120"/>
              </a:rPr>
              <a:t>Observable market variables (returns, volatility, volume) are generated by an underlying, unobservable market regime. Standard time-series methods treat the sequence as fully random or governed by a single global process, failing to capture that market behaviour changes character over time in a structured, regime-dependent way.</a:t>
            </a:r>
            <a:endParaRPr lang="en-US" sz="1250" dirty="0"/>
          </a:p>
        </p:txBody>
      </p:sp>
      <p:sp>
        <p:nvSpPr>
          <p:cNvPr id="6" name="Text 4"/>
          <p:cNvSpPr/>
          <p:nvPr/>
        </p:nvSpPr>
        <p:spPr>
          <a:xfrm>
            <a:off x="548640" y="2651760"/>
            <a:ext cx="11091672" cy="914400"/>
          </a:xfrm>
          <a:prstGeom prst="rect">
            <a:avLst/>
          </a:prstGeom>
          <a:noFill/>
          <a:ln/>
        </p:spPr>
        <p:txBody>
          <a:bodyPr wrap="square" rtlCol="0" anchor="t"/>
          <a:lstStyle/>
          <a:p>
            <a:pPr marL="228600" indent="-228600">
              <a:lnSpc>
                <a:spcPct val="112000"/>
              </a:lnSpc>
              <a:spcAft>
                <a:spcPts val="1000"/>
              </a:spcAft>
              <a:buSzPct val="100000"/>
              <a:buChar char="•"/>
            </a:pPr>
            <a:r>
              <a:rPr lang="en-US" sz="1250" dirty="0">
                <a:solidFill>
                  <a:srgbClr val="3D3D3D"/>
                </a:solidFill>
                <a:latin typeface="Calibri" pitchFamily="34" charset="0"/>
                <a:ea typeface="Calibri" pitchFamily="34" charset="-122"/>
                <a:cs typeface="Calibri" pitchFamily="34" charset="-120"/>
              </a:rPr>
              <a:t>Learn how market regimes evolve and generate observable behaviour, without pre-labelled regime data</a:t>
            </a:r>
            <a:endParaRPr lang="en-US" sz="1250" dirty="0"/>
          </a:p>
          <a:p>
            <a:pPr marL="228600" indent="-228600">
              <a:lnSpc>
                <a:spcPct val="112000"/>
              </a:lnSpc>
              <a:spcAft>
                <a:spcPts val="1000"/>
              </a:spcAft>
              <a:buSzPct val="100000"/>
              <a:buChar char="•"/>
            </a:pPr>
            <a:r>
              <a:rPr lang="en-US" sz="1250" dirty="0">
                <a:solidFill>
                  <a:srgbClr val="3D3D3D"/>
                </a:solidFill>
                <a:latin typeface="Calibri" pitchFamily="34" charset="0"/>
                <a:ea typeface="Calibri" pitchFamily="34" charset="-122"/>
                <a:cs typeface="Calibri" pitchFamily="34" charset="-120"/>
              </a:rPr>
              <a:t>Recover the most probable historical regime sequence, interpret it financially, and characterise its persistence and transitions</a:t>
            </a:r>
            <a:endParaRPr lang="en-US" sz="1250" dirty="0"/>
          </a:p>
        </p:txBody>
      </p:sp>
      <p:sp>
        <p:nvSpPr>
          <p:cNvPr id="7" name="Shape 5"/>
          <p:cNvSpPr/>
          <p:nvPr/>
        </p:nvSpPr>
        <p:spPr>
          <a:xfrm>
            <a:off x="548640" y="3703320"/>
            <a:ext cx="5385816" cy="2651760"/>
          </a:xfrm>
          <a:prstGeom prst="rect">
            <a:avLst/>
          </a:prstGeom>
          <a:solidFill>
            <a:srgbClr val="F4F6FA"/>
          </a:solidFill>
          <a:ln w="9525">
            <a:solidFill>
              <a:srgbClr val="D9D9D9"/>
            </a:solidFill>
            <a:prstDash val="solid"/>
          </a:ln>
        </p:spPr>
        <p:txBody>
          <a:bodyPr/>
          <a:lstStyle/>
          <a:p>
            <a:endParaRPr lang="en-IN"/>
          </a:p>
        </p:txBody>
      </p:sp>
      <p:sp>
        <p:nvSpPr>
          <p:cNvPr id="8" name="Text 6"/>
          <p:cNvSpPr/>
          <p:nvPr/>
        </p:nvSpPr>
        <p:spPr>
          <a:xfrm>
            <a:off x="777240" y="3886200"/>
            <a:ext cx="4928616" cy="320040"/>
          </a:xfrm>
          <a:prstGeom prst="rect">
            <a:avLst/>
          </a:prstGeom>
          <a:noFill/>
          <a:ln/>
        </p:spPr>
        <p:txBody>
          <a:bodyPr wrap="square" rtlCol="0" anchor="ctr"/>
          <a:lstStyle/>
          <a:p>
            <a:pPr marL="0" indent="0">
              <a:buNone/>
            </a:pPr>
            <a:r>
              <a:rPr lang="en-US" sz="1400" b="1" dirty="0">
                <a:solidFill>
                  <a:srgbClr val="2E5AAC"/>
                </a:solidFill>
                <a:latin typeface="Calibri" pitchFamily="34" charset="0"/>
                <a:ea typeface="Calibri" pitchFamily="34" charset="-122"/>
                <a:cs typeface="Calibri" pitchFamily="34" charset="-120"/>
              </a:rPr>
              <a:t>Question</a:t>
            </a:r>
            <a:endParaRPr lang="en-US" sz="1400" dirty="0"/>
          </a:p>
        </p:txBody>
      </p:sp>
      <p:sp>
        <p:nvSpPr>
          <p:cNvPr id="9" name="Text 7"/>
          <p:cNvSpPr/>
          <p:nvPr/>
        </p:nvSpPr>
        <p:spPr>
          <a:xfrm>
            <a:off x="777240" y="4297680"/>
            <a:ext cx="4928616" cy="1828800"/>
          </a:xfrm>
          <a:prstGeom prst="rect">
            <a:avLst/>
          </a:prstGeom>
          <a:noFill/>
          <a:ln/>
        </p:spPr>
        <p:txBody>
          <a:bodyPr wrap="square" rtlCol="0" anchor="t"/>
          <a:lstStyle/>
          <a:p>
            <a:pPr marL="0" indent="0">
              <a:lnSpc>
                <a:spcPct val="120000"/>
              </a:lnSpc>
              <a:buNone/>
            </a:pPr>
            <a:r>
              <a:rPr lang="en-US" sz="1250" i="1" dirty="0">
                <a:solidFill>
                  <a:srgbClr val="3D3D3D"/>
                </a:solidFill>
                <a:latin typeface="Calibri" pitchFamily="34" charset="0"/>
                <a:ea typeface="Calibri" pitchFamily="34" charset="-122"/>
                <a:cs typeface="Calibri" pitchFamily="34" charset="-120"/>
              </a:rPr>
              <a:t>Can Hidden Markov Models infer meaningful financial market regimes from observable stock-market behaviour, and can the learned transition dynamics be used to characterise regime persistence and transitions?</a:t>
            </a:r>
            <a:endParaRPr lang="en-US" sz="1250" dirty="0"/>
          </a:p>
        </p:txBody>
      </p:sp>
      <p:sp>
        <p:nvSpPr>
          <p:cNvPr id="10" name="Shape 8"/>
          <p:cNvSpPr/>
          <p:nvPr/>
        </p:nvSpPr>
        <p:spPr>
          <a:xfrm>
            <a:off x="6254496" y="3703320"/>
            <a:ext cx="5385816" cy="2651760"/>
          </a:xfrm>
          <a:prstGeom prst="rect">
            <a:avLst/>
          </a:prstGeom>
          <a:solidFill>
            <a:srgbClr val="F4F6FA"/>
          </a:solidFill>
          <a:ln w="9525">
            <a:solidFill>
              <a:srgbClr val="D9D9D9"/>
            </a:solidFill>
            <a:prstDash val="solid"/>
          </a:ln>
        </p:spPr>
        <p:txBody>
          <a:bodyPr/>
          <a:lstStyle/>
          <a:p>
            <a:endParaRPr lang="en-IN"/>
          </a:p>
        </p:txBody>
      </p:sp>
      <p:sp>
        <p:nvSpPr>
          <p:cNvPr id="11" name="Text 9"/>
          <p:cNvSpPr/>
          <p:nvPr/>
        </p:nvSpPr>
        <p:spPr>
          <a:xfrm>
            <a:off x="6483096" y="3886200"/>
            <a:ext cx="4928616" cy="320040"/>
          </a:xfrm>
          <a:prstGeom prst="rect">
            <a:avLst/>
          </a:prstGeom>
          <a:noFill/>
          <a:ln/>
        </p:spPr>
        <p:txBody>
          <a:bodyPr wrap="square" rtlCol="0" anchor="ctr"/>
          <a:lstStyle/>
          <a:p>
            <a:pPr marL="0" indent="0">
              <a:buNone/>
            </a:pPr>
            <a:r>
              <a:rPr lang="en-US" sz="1400" b="1" dirty="0">
                <a:solidFill>
                  <a:srgbClr val="2E5AAC"/>
                </a:solidFill>
                <a:latin typeface="Calibri" pitchFamily="34" charset="0"/>
                <a:ea typeface="Calibri" pitchFamily="34" charset="-122"/>
                <a:cs typeface="Calibri" pitchFamily="34" charset="-120"/>
              </a:rPr>
              <a:t>Hypothesis</a:t>
            </a:r>
            <a:endParaRPr lang="en-US" sz="1400" dirty="0"/>
          </a:p>
        </p:txBody>
      </p:sp>
      <p:sp>
        <p:nvSpPr>
          <p:cNvPr id="12" name="Text 10"/>
          <p:cNvSpPr/>
          <p:nvPr/>
        </p:nvSpPr>
        <p:spPr>
          <a:xfrm>
            <a:off x="6483096" y="4297680"/>
            <a:ext cx="4928616" cy="1828800"/>
          </a:xfrm>
          <a:prstGeom prst="rect">
            <a:avLst/>
          </a:prstGeom>
          <a:noFill/>
          <a:ln/>
        </p:spPr>
        <p:txBody>
          <a:bodyPr wrap="square" rtlCol="0" anchor="t"/>
          <a:lstStyle/>
          <a:p>
            <a:pPr marL="0" indent="0">
              <a:lnSpc>
                <a:spcPct val="120000"/>
              </a:lnSpc>
              <a:buNone/>
            </a:pPr>
            <a:r>
              <a:rPr lang="en-US" sz="1250" i="1" dirty="0">
                <a:solidFill>
                  <a:srgbClr val="3D3D3D"/>
                </a:solidFill>
                <a:latin typeface="Calibri" pitchFamily="34" charset="0"/>
                <a:ea typeface="Calibri" pitchFamily="34" charset="-122"/>
                <a:cs typeface="Calibri" pitchFamily="34" charset="-120"/>
              </a:rPr>
              <a:t>Financial markets exhibit temporal patterns representable by a small number of latent regimes. An HMM trained via Baum–Welch can learn these regimes directly from market features, while Viterbi decoding can recover their most probable historical sequence.</a:t>
            </a:r>
            <a:endParaRPr lang="en-US" sz="1250" dirty="0"/>
          </a:p>
        </p:txBody>
      </p:sp>
      <p:sp>
        <p:nvSpPr>
          <p:cNvPr id="13" name="Text 11"/>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14" name="Text 12"/>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Project Objectives</a:t>
            </a:r>
            <a:endParaRPr lang="en-US" sz="2800" dirty="0"/>
          </a:p>
        </p:txBody>
      </p:sp>
      <p:sp>
        <p:nvSpPr>
          <p:cNvPr id="4" name="Shape 2"/>
          <p:cNvSpPr/>
          <p:nvPr/>
        </p:nvSpPr>
        <p:spPr>
          <a:xfrm>
            <a:off x="548640" y="1508760"/>
            <a:ext cx="384048" cy="384048"/>
          </a:xfrm>
          <a:prstGeom prst="rect">
            <a:avLst/>
          </a:prstGeom>
          <a:solidFill>
            <a:srgbClr val="1B2A4A"/>
          </a:solidFill>
          <a:ln/>
        </p:spPr>
        <p:txBody>
          <a:bodyPr/>
          <a:lstStyle/>
          <a:p>
            <a:endParaRPr lang="en-IN"/>
          </a:p>
        </p:txBody>
      </p:sp>
      <p:sp>
        <p:nvSpPr>
          <p:cNvPr id="5" name="Text 3"/>
          <p:cNvSpPr/>
          <p:nvPr/>
        </p:nvSpPr>
        <p:spPr>
          <a:xfrm>
            <a:off x="548640" y="150876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1481328"/>
            <a:ext cx="10524744" cy="658368"/>
          </a:xfrm>
          <a:prstGeom prst="rect">
            <a:avLst/>
          </a:prstGeom>
          <a:noFill/>
          <a:ln/>
        </p:spPr>
        <p:txBody>
          <a:bodyPr wrap="square" rtlCol="0" anchor="ctr"/>
          <a:lstStyle/>
          <a:p>
            <a:pPr marL="0" indent="0">
              <a:lnSpc>
                <a:spcPct val="108000"/>
              </a:lnSpc>
              <a:buNone/>
            </a:pPr>
            <a:r>
              <a:rPr lang="en-US" sz="1300" dirty="0">
                <a:solidFill>
                  <a:srgbClr val="3D3D3D"/>
                </a:solidFill>
                <a:latin typeface="Calibri" pitchFamily="34" charset="0"/>
                <a:ea typeface="Calibri" pitchFamily="34" charset="-122"/>
                <a:cs typeface="Calibri" pitchFamily="34" charset="-120"/>
              </a:rPr>
              <a:t>Engineer observable market features — return, volatility, volume, momentum — suitable for regime modelling</a:t>
            </a:r>
            <a:endParaRPr lang="en-US" sz="1300" dirty="0"/>
          </a:p>
        </p:txBody>
      </p:sp>
      <p:sp>
        <p:nvSpPr>
          <p:cNvPr id="7" name="Shape 5"/>
          <p:cNvSpPr/>
          <p:nvPr/>
        </p:nvSpPr>
        <p:spPr>
          <a:xfrm>
            <a:off x="548640" y="2167128"/>
            <a:ext cx="384048" cy="384048"/>
          </a:xfrm>
          <a:prstGeom prst="rect">
            <a:avLst/>
          </a:prstGeom>
          <a:solidFill>
            <a:srgbClr val="1B2A4A"/>
          </a:solidFill>
          <a:ln/>
        </p:spPr>
        <p:txBody>
          <a:bodyPr/>
          <a:lstStyle/>
          <a:p>
            <a:endParaRPr lang="en-IN"/>
          </a:p>
        </p:txBody>
      </p:sp>
      <p:sp>
        <p:nvSpPr>
          <p:cNvPr id="8" name="Text 6"/>
          <p:cNvSpPr/>
          <p:nvPr/>
        </p:nvSpPr>
        <p:spPr>
          <a:xfrm>
            <a:off x="548640" y="216712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115568" y="2139696"/>
            <a:ext cx="10524744" cy="658368"/>
          </a:xfrm>
          <a:prstGeom prst="rect">
            <a:avLst/>
          </a:prstGeom>
          <a:noFill/>
          <a:ln/>
        </p:spPr>
        <p:txBody>
          <a:bodyPr wrap="square" rtlCol="0" anchor="ctr"/>
          <a:lstStyle/>
          <a:p>
            <a:pPr marL="0" indent="0">
              <a:lnSpc>
                <a:spcPct val="108000"/>
              </a:lnSpc>
              <a:buNone/>
            </a:pPr>
            <a:r>
              <a:rPr lang="en-US" sz="1300" dirty="0">
                <a:solidFill>
                  <a:srgbClr val="3D3D3D"/>
                </a:solidFill>
                <a:latin typeface="Calibri" pitchFamily="34" charset="0"/>
                <a:ea typeface="Calibri" pitchFamily="34" charset="-122"/>
                <a:cs typeface="Calibri" pitchFamily="34" charset="-120"/>
              </a:rPr>
              <a:t>Implement Forward, Backward, Baum–Welch, and Viterbi from first principles to demonstrate mathematical and algorithmic understanding</a:t>
            </a:r>
            <a:endParaRPr lang="en-US" sz="1300" dirty="0"/>
          </a:p>
        </p:txBody>
      </p:sp>
      <p:sp>
        <p:nvSpPr>
          <p:cNvPr id="10" name="Shape 8"/>
          <p:cNvSpPr/>
          <p:nvPr/>
        </p:nvSpPr>
        <p:spPr>
          <a:xfrm>
            <a:off x="548640" y="2825496"/>
            <a:ext cx="384048" cy="384048"/>
          </a:xfrm>
          <a:prstGeom prst="rect">
            <a:avLst/>
          </a:prstGeom>
          <a:solidFill>
            <a:srgbClr val="1B2A4A"/>
          </a:solidFill>
          <a:ln/>
        </p:spPr>
        <p:txBody>
          <a:bodyPr/>
          <a:lstStyle/>
          <a:p>
            <a:endParaRPr lang="en-IN"/>
          </a:p>
        </p:txBody>
      </p:sp>
      <p:sp>
        <p:nvSpPr>
          <p:cNvPr id="11" name="Text 9"/>
          <p:cNvSpPr/>
          <p:nvPr/>
        </p:nvSpPr>
        <p:spPr>
          <a:xfrm>
            <a:off x="548640" y="2825496"/>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115568" y="2798064"/>
            <a:ext cx="10524744" cy="658368"/>
          </a:xfrm>
          <a:prstGeom prst="rect">
            <a:avLst/>
          </a:prstGeom>
          <a:noFill/>
          <a:ln/>
        </p:spPr>
        <p:txBody>
          <a:bodyPr wrap="square" rtlCol="0" anchor="ctr"/>
          <a:lstStyle/>
          <a:p>
            <a:pPr marL="0" indent="0">
              <a:lnSpc>
                <a:spcPct val="108000"/>
              </a:lnSpc>
              <a:buNone/>
            </a:pPr>
            <a:r>
              <a:rPr lang="en-US" sz="1300" dirty="0">
                <a:solidFill>
                  <a:srgbClr val="3D3D3D"/>
                </a:solidFill>
                <a:latin typeface="Calibri" pitchFamily="34" charset="0"/>
                <a:ea typeface="Calibri" pitchFamily="34" charset="-122"/>
                <a:cs typeface="Calibri" pitchFamily="34" charset="-120"/>
              </a:rPr>
              <a:t>Train a Gaussian-emission HMM on real historical S&amp;P 500 data and learn its transition and emission parameters</a:t>
            </a:r>
            <a:endParaRPr lang="en-US" sz="1300" dirty="0"/>
          </a:p>
        </p:txBody>
      </p:sp>
      <p:sp>
        <p:nvSpPr>
          <p:cNvPr id="13" name="Shape 11"/>
          <p:cNvSpPr/>
          <p:nvPr/>
        </p:nvSpPr>
        <p:spPr>
          <a:xfrm>
            <a:off x="548640" y="3483864"/>
            <a:ext cx="384048" cy="384048"/>
          </a:xfrm>
          <a:prstGeom prst="rect">
            <a:avLst/>
          </a:prstGeom>
          <a:solidFill>
            <a:srgbClr val="1B2A4A"/>
          </a:solidFill>
          <a:ln/>
        </p:spPr>
        <p:txBody>
          <a:bodyPr/>
          <a:lstStyle/>
          <a:p>
            <a:endParaRPr lang="en-IN"/>
          </a:p>
        </p:txBody>
      </p:sp>
      <p:sp>
        <p:nvSpPr>
          <p:cNvPr id="14" name="Text 12"/>
          <p:cNvSpPr/>
          <p:nvPr/>
        </p:nvSpPr>
        <p:spPr>
          <a:xfrm>
            <a:off x="548640" y="3483864"/>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115568" y="3456432"/>
            <a:ext cx="10524744" cy="658368"/>
          </a:xfrm>
          <a:prstGeom prst="rect">
            <a:avLst/>
          </a:prstGeom>
          <a:noFill/>
          <a:ln/>
        </p:spPr>
        <p:txBody>
          <a:bodyPr wrap="square" rtlCol="0" anchor="ctr"/>
          <a:lstStyle/>
          <a:p>
            <a:pPr marL="0" indent="0">
              <a:lnSpc>
                <a:spcPct val="108000"/>
              </a:lnSpc>
              <a:buNone/>
            </a:pPr>
            <a:r>
              <a:rPr lang="en-US" sz="1300" dirty="0">
                <a:solidFill>
                  <a:srgbClr val="3D3D3D"/>
                </a:solidFill>
                <a:latin typeface="Calibri" pitchFamily="34" charset="0"/>
                <a:ea typeface="Calibri" pitchFamily="34" charset="-122"/>
                <a:cs typeface="Calibri" pitchFamily="34" charset="-120"/>
              </a:rPr>
              <a:t>Decode the most probable historical regime sequence via Viterbi and interpret states as Bull / Bear / Sideways from their statistical signatures</a:t>
            </a:r>
            <a:endParaRPr lang="en-US" sz="1300" dirty="0"/>
          </a:p>
        </p:txBody>
      </p:sp>
      <p:sp>
        <p:nvSpPr>
          <p:cNvPr id="16" name="Shape 14"/>
          <p:cNvSpPr/>
          <p:nvPr/>
        </p:nvSpPr>
        <p:spPr>
          <a:xfrm>
            <a:off x="548640" y="4142232"/>
            <a:ext cx="384048" cy="384048"/>
          </a:xfrm>
          <a:prstGeom prst="rect">
            <a:avLst/>
          </a:prstGeom>
          <a:solidFill>
            <a:srgbClr val="1B2A4A"/>
          </a:solidFill>
          <a:ln/>
        </p:spPr>
        <p:txBody>
          <a:bodyPr/>
          <a:lstStyle/>
          <a:p>
            <a:endParaRPr lang="en-IN"/>
          </a:p>
        </p:txBody>
      </p:sp>
      <p:sp>
        <p:nvSpPr>
          <p:cNvPr id="17" name="Text 15"/>
          <p:cNvSpPr/>
          <p:nvPr/>
        </p:nvSpPr>
        <p:spPr>
          <a:xfrm>
            <a:off x="548640" y="4142232"/>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115568" y="4114800"/>
            <a:ext cx="10524744" cy="658368"/>
          </a:xfrm>
          <a:prstGeom prst="rect">
            <a:avLst/>
          </a:prstGeom>
          <a:noFill/>
          <a:ln/>
        </p:spPr>
        <p:txBody>
          <a:bodyPr wrap="square" rtlCol="0" anchor="ctr"/>
          <a:lstStyle/>
          <a:p>
            <a:pPr marL="0" indent="0">
              <a:lnSpc>
                <a:spcPct val="108000"/>
              </a:lnSpc>
              <a:buNone/>
            </a:pPr>
            <a:r>
              <a:rPr lang="en-US" sz="1300" dirty="0">
                <a:solidFill>
                  <a:srgbClr val="3D3D3D"/>
                </a:solidFill>
                <a:latin typeface="Calibri" pitchFamily="34" charset="0"/>
                <a:ea typeface="Calibri" pitchFamily="34" charset="-122"/>
                <a:cs typeface="Calibri" pitchFamily="34" charset="-120"/>
              </a:rPr>
              <a:t>Analyse regime persistence, regime duration, and regime-to-regime transition probabilities</a:t>
            </a:r>
            <a:endParaRPr lang="en-US" sz="1300" dirty="0"/>
          </a:p>
        </p:txBody>
      </p:sp>
      <p:sp>
        <p:nvSpPr>
          <p:cNvPr id="19" name="Shape 17"/>
          <p:cNvSpPr/>
          <p:nvPr/>
        </p:nvSpPr>
        <p:spPr>
          <a:xfrm>
            <a:off x="548640" y="4800600"/>
            <a:ext cx="384048" cy="384048"/>
          </a:xfrm>
          <a:prstGeom prst="rect">
            <a:avLst/>
          </a:prstGeom>
          <a:solidFill>
            <a:srgbClr val="1B2A4A"/>
          </a:solidFill>
          <a:ln/>
        </p:spPr>
        <p:txBody>
          <a:bodyPr/>
          <a:lstStyle/>
          <a:p>
            <a:endParaRPr lang="en-IN"/>
          </a:p>
        </p:txBody>
      </p:sp>
      <p:sp>
        <p:nvSpPr>
          <p:cNvPr id="20" name="Text 18"/>
          <p:cNvSpPr/>
          <p:nvPr/>
        </p:nvSpPr>
        <p:spPr>
          <a:xfrm>
            <a:off x="548640" y="48006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p:nvPr/>
        </p:nvSpPr>
        <p:spPr>
          <a:xfrm>
            <a:off x="1115568" y="4773168"/>
            <a:ext cx="10524744" cy="658368"/>
          </a:xfrm>
          <a:prstGeom prst="rect">
            <a:avLst/>
          </a:prstGeom>
          <a:noFill/>
          <a:ln/>
        </p:spPr>
        <p:txBody>
          <a:bodyPr wrap="square" rtlCol="0" anchor="ctr"/>
          <a:lstStyle/>
          <a:p>
            <a:pPr marL="0" indent="0">
              <a:lnSpc>
                <a:spcPct val="108000"/>
              </a:lnSpc>
              <a:buNone/>
            </a:pPr>
            <a:r>
              <a:rPr lang="en-US" sz="1300" dirty="0">
                <a:solidFill>
                  <a:srgbClr val="3D3D3D"/>
                </a:solidFill>
                <a:latin typeface="Calibri" pitchFamily="34" charset="0"/>
                <a:ea typeface="Calibri" pitchFamily="34" charset="-122"/>
                <a:cs typeface="Calibri" pitchFamily="34" charset="-120"/>
              </a:rPr>
              <a:t>Evaluate rigorously using log-likelihood, AIC/BIC, and historical-event validation, rather than classification accuracy against non-existent ground truth</a:t>
            </a:r>
            <a:endParaRPr lang="en-US" sz="1300" dirty="0"/>
          </a:p>
        </p:txBody>
      </p:sp>
      <p:sp>
        <p:nvSpPr>
          <p:cNvPr id="22" name="Shape 20"/>
          <p:cNvSpPr/>
          <p:nvPr/>
        </p:nvSpPr>
        <p:spPr>
          <a:xfrm>
            <a:off x="548640" y="5458968"/>
            <a:ext cx="384048" cy="384048"/>
          </a:xfrm>
          <a:prstGeom prst="rect">
            <a:avLst/>
          </a:prstGeom>
          <a:solidFill>
            <a:srgbClr val="1B2A4A"/>
          </a:solidFill>
          <a:ln/>
        </p:spPr>
        <p:txBody>
          <a:bodyPr/>
          <a:lstStyle/>
          <a:p>
            <a:endParaRPr lang="en-IN"/>
          </a:p>
        </p:txBody>
      </p:sp>
      <p:sp>
        <p:nvSpPr>
          <p:cNvPr id="23" name="Text 21"/>
          <p:cNvSpPr/>
          <p:nvPr/>
        </p:nvSpPr>
        <p:spPr>
          <a:xfrm>
            <a:off x="548640" y="545896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4" name="Text 22"/>
          <p:cNvSpPr/>
          <p:nvPr/>
        </p:nvSpPr>
        <p:spPr>
          <a:xfrm>
            <a:off x="1115568" y="5431536"/>
            <a:ext cx="10524744" cy="658368"/>
          </a:xfrm>
          <a:prstGeom prst="rect">
            <a:avLst/>
          </a:prstGeom>
          <a:noFill/>
          <a:ln/>
        </p:spPr>
        <p:txBody>
          <a:bodyPr wrap="square" rtlCol="0" anchor="ctr"/>
          <a:lstStyle/>
          <a:p>
            <a:pPr marL="0" indent="0">
              <a:lnSpc>
                <a:spcPct val="108000"/>
              </a:lnSpc>
              <a:buNone/>
            </a:pPr>
            <a:r>
              <a:rPr lang="en-US" sz="1300" dirty="0">
                <a:solidFill>
                  <a:srgbClr val="3D3D3D"/>
                </a:solidFill>
                <a:latin typeface="Calibri" pitchFamily="34" charset="0"/>
                <a:ea typeface="Calibri" pitchFamily="34" charset="-122"/>
                <a:cs typeface="Calibri" pitchFamily="34" charset="-120"/>
              </a:rPr>
              <a:t>Present results through a clear, interactive analytical dashboard</a:t>
            </a:r>
            <a:endParaRPr lang="en-US" sz="1300" dirty="0"/>
          </a:p>
        </p:txBody>
      </p:sp>
      <p:sp>
        <p:nvSpPr>
          <p:cNvPr id="25" name="Text 23"/>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26" name="Text 24"/>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THEORETICAL BACKGROUND</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Hidden Markov Models — Structure</a:t>
            </a:r>
            <a:endParaRPr lang="en-US" sz="2800" dirty="0"/>
          </a:p>
        </p:txBody>
      </p:sp>
      <p:sp>
        <p:nvSpPr>
          <p:cNvPr id="4" name="Text 2"/>
          <p:cNvSpPr/>
          <p:nvPr/>
        </p:nvSpPr>
        <p:spPr>
          <a:xfrm>
            <a:off x="548640" y="1417320"/>
            <a:ext cx="11091672" cy="1234440"/>
          </a:xfrm>
          <a:prstGeom prst="rect">
            <a:avLst/>
          </a:prstGeom>
          <a:noFill/>
          <a:ln/>
        </p:spPr>
        <p:txBody>
          <a:bodyPr wrap="square" rtlCol="0" anchor="t"/>
          <a:lstStyle/>
          <a:p>
            <a:pPr marL="0" indent="0">
              <a:lnSpc>
                <a:spcPct val="120000"/>
              </a:lnSpc>
              <a:buNone/>
            </a:pPr>
            <a:r>
              <a:rPr lang="en-US" sz="1300" dirty="0">
                <a:solidFill>
                  <a:srgbClr val="3D3D3D"/>
                </a:solidFill>
                <a:latin typeface="Calibri" pitchFamily="34" charset="0"/>
                <a:ea typeface="Calibri" pitchFamily="34" charset="-122"/>
                <a:cs typeface="Calibri" pitchFamily="34" charset="-120"/>
              </a:rPr>
              <a:t>A Hidden Markov Model describes a system that transitions between a finite set of hidden states according to Markovian dynamics: the next state depends only on the current state, not the full history. At each time step, the current hidden state produces an observable output via a state-specific emission distribution. The hidden state itself is never directly observed — only the emissions are.</a:t>
            </a:r>
            <a:endParaRPr lang="en-US" sz="1300" dirty="0"/>
          </a:p>
        </p:txBody>
      </p:sp>
      <p:sp>
        <p:nvSpPr>
          <p:cNvPr id="5" name="Text 3"/>
          <p:cNvSpPr/>
          <p:nvPr/>
        </p:nvSpPr>
        <p:spPr>
          <a:xfrm>
            <a:off x="548640" y="2697480"/>
            <a:ext cx="110916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Formally, an HMM is the triple  λ = (A, B, π)</a:t>
            </a:r>
            <a:endParaRPr lang="en-US" sz="1400" dirty="0"/>
          </a:p>
        </p:txBody>
      </p:sp>
      <p:sp>
        <p:nvSpPr>
          <p:cNvPr id="6" name="Shape 4"/>
          <p:cNvSpPr/>
          <p:nvPr/>
        </p:nvSpPr>
        <p:spPr>
          <a:xfrm>
            <a:off x="548640" y="3154680"/>
            <a:ext cx="640080" cy="475488"/>
          </a:xfrm>
          <a:prstGeom prst="rect">
            <a:avLst/>
          </a:prstGeom>
          <a:solidFill>
            <a:srgbClr val="F4F6FA"/>
          </a:solidFill>
          <a:ln w="9525">
            <a:solidFill>
              <a:srgbClr val="D9D9D9"/>
            </a:solidFill>
            <a:prstDash val="solid"/>
          </a:ln>
        </p:spPr>
        <p:txBody>
          <a:bodyPr/>
          <a:lstStyle/>
          <a:p>
            <a:endParaRPr lang="en-IN"/>
          </a:p>
        </p:txBody>
      </p:sp>
      <p:sp>
        <p:nvSpPr>
          <p:cNvPr id="7" name="Text 5"/>
          <p:cNvSpPr/>
          <p:nvPr/>
        </p:nvSpPr>
        <p:spPr>
          <a:xfrm>
            <a:off x="548640" y="3154680"/>
            <a:ext cx="640080" cy="475488"/>
          </a:xfrm>
          <a:prstGeom prst="rect">
            <a:avLst/>
          </a:prstGeom>
          <a:noFill/>
          <a:ln/>
        </p:spPr>
        <p:txBody>
          <a:bodyPr wrap="square" rtlCol="0" anchor="ctr"/>
          <a:lstStyle/>
          <a:p>
            <a:pPr marL="0" indent="0" algn="ctr">
              <a:buNone/>
            </a:pPr>
            <a:r>
              <a:rPr lang="en-US" sz="1600" b="1" dirty="0">
                <a:solidFill>
                  <a:srgbClr val="2E5AAC"/>
                </a:solidFill>
                <a:latin typeface="Calibri" pitchFamily="34" charset="0"/>
                <a:ea typeface="Calibri" pitchFamily="34" charset="-122"/>
                <a:cs typeface="Calibri" pitchFamily="34" charset="-120"/>
              </a:rPr>
              <a:t>π</a:t>
            </a:r>
            <a:endParaRPr lang="en-US" sz="1600" dirty="0"/>
          </a:p>
        </p:txBody>
      </p:sp>
      <p:sp>
        <p:nvSpPr>
          <p:cNvPr id="8" name="Text 6"/>
          <p:cNvSpPr/>
          <p:nvPr/>
        </p:nvSpPr>
        <p:spPr>
          <a:xfrm>
            <a:off x="1371600" y="3154680"/>
            <a:ext cx="3931920" cy="475488"/>
          </a:xfrm>
          <a:prstGeom prst="rect">
            <a:avLst/>
          </a:prstGeom>
          <a:noFill/>
          <a:ln/>
        </p:spPr>
        <p:txBody>
          <a:bodyPr wrap="square" rtlCol="0" anchor="ctr"/>
          <a:lstStyle/>
          <a:p>
            <a:pPr marL="0" indent="0">
              <a:buNone/>
            </a:pPr>
            <a:r>
              <a:rPr lang="en-US" sz="1250" dirty="0">
                <a:solidFill>
                  <a:srgbClr val="3D3D3D"/>
                </a:solidFill>
                <a:latin typeface="Calibri" pitchFamily="34" charset="0"/>
                <a:ea typeface="Calibri" pitchFamily="34" charset="-122"/>
                <a:cs typeface="Calibri" pitchFamily="34" charset="-120"/>
              </a:rPr>
              <a:t>Initial-state distribution</a:t>
            </a:r>
            <a:endParaRPr lang="en-US" sz="1250" dirty="0"/>
          </a:p>
        </p:txBody>
      </p:sp>
      <p:sp>
        <p:nvSpPr>
          <p:cNvPr id="9" name="Text 7"/>
          <p:cNvSpPr/>
          <p:nvPr/>
        </p:nvSpPr>
        <p:spPr>
          <a:xfrm>
            <a:off x="5394960" y="3154680"/>
            <a:ext cx="6217920" cy="475488"/>
          </a:xfrm>
          <a:prstGeom prst="rect">
            <a:avLst/>
          </a:prstGeom>
          <a:noFill/>
          <a:ln/>
        </p:spPr>
        <p:txBody>
          <a:bodyPr wrap="square" rtlCol="0" anchor="ctr"/>
          <a:lstStyle/>
          <a:p>
            <a:pPr marL="0" indent="0">
              <a:buNone/>
            </a:pPr>
            <a:r>
              <a:rPr lang="en-US" sz="1250" dirty="0">
                <a:solidFill>
                  <a:srgbClr val="1B2A4A"/>
                </a:solidFill>
                <a:latin typeface="Consolas" pitchFamily="34" charset="0"/>
                <a:ea typeface="Consolas" pitchFamily="34" charset="-122"/>
                <a:cs typeface="Consolas" pitchFamily="34" charset="-120"/>
              </a:rPr>
              <a:t>πᵢ = P(S₁ = i)</a:t>
            </a:r>
            <a:endParaRPr lang="en-US" sz="1250" dirty="0"/>
          </a:p>
        </p:txBody>
      </p:sp>
      <p:sp>
        <p:nvSpPr>
          <p:cNvPr id="10" name="Shape 8"/>
          <p:cNvSpPr/>
          <p:nvPr/>
        </p:nvSpPr>
        <p:spPr>
          <a:xfrm>
            <a:off x="548640" y="3721608"/>
            <a:ext cx="640080" cy="475488"/>
          </a:xfrm>
          <a:prstGeom prst="rect">
            <a:avLst/>
          </a:prstGeom>
          <a:solidFill>
            <a:srgbClr val="F4F6FA"/>
          </a:solidFill>
          <a:ln w="9525">
            <a:solidFill>
              <a:srgbClr val="D9D9D9"/>
            </a:solidFill>
            <a:prstDash val="solid"/>
          </a:ln>
        </p:spPr>
        <p:txBody>
          <a:bodyPr/>
          <a:lstStyle/>
          <a:p>
            <a:endParaRPr lang="en-IN"/>
          </a:p>
        </p:txBody>
      </p:sp>
      <p:sp>
        <p:nvSpPr>
          <p:cNvPr id="11" name="Text 9"/>
          <p:cNvSpPr/>
          <p:nvPr/>
        </p:nvSpPr>
        <p:spPr>
          <a:xfrm>
            <a:off x="548640" y="3721608"/>
            <a:ext cx="640080" cy="475488"/>
          </a:xfrm>
          <a:prstGeom prst="rect">
            <a:avLst/>
          </a:prstGeom>
          <a:noFill/>
          <a:ln/>
        </p:spPr>
        <p:txBody>
          <a:bodyPr wrap="square" rtlCol="0" anchor="ctr"/>
          <a:lstStyle/>
          <a:p>
            <a:pPr marL="0" indent="0" algn="ctr">
              <a:buNone/>
            </a:pPr>
            <a:r>
              <a:rPr lang="en-US" sz="1600" b="1" dirty="0">
                <a:solidFill>
                  <a:srgbClr val="2E5AAC"/>
                </a:solidFill>
                <a:latin typeface="Calibri" pitchFamily="34" charset="0"/>
                <a:ea typeface="Calibri" pitchFamily="34" charset="-122"/>
                <a:cs typeface="Calibri" pitchFamily="34" charset="-120"/>
              </a:rPr>
              <a:t>A</a:t>
            </a:r>
            <a:endParaRPr lang="en-US" sz="1600" dirty="0"/>
          </a:p>
        </p:txBody>
      </p:sp>
      <p:sp>
        <p:nvSpPr>
          <p:cNvPr id="12" name="Text 10"/>
          <p:cNvSpPr/>
          <p:nvPr/>
        </p:nvSpPr>
        <p:spPr>
          <a:xfrm>
            <a:off x="1371600" y="3721608"/>
            <a:ext cx="3931920" cy="475488"/>
          </a:xfrm>
          <a:prstGeom prst="rect">
            <a:avLst/>
          </a:prstGeom>
          <a:noFill/>
          <a:ln/>
        </p:spPr>
        <p:txBody>
          <a:bodyPr wrap="square" rtlCol="0" anchor="ctr"/>
          <a:lstStyle/>
          <a:p>
            <a:pPr marL="0" indent="0">
              <a:buNone/>
            </a:pPr>
            <a:r>
              <a:rPr lang="en-US" sz="1250" dirty="0">
                <a:solidFill>
                  <a:srgbClr val="3D3D3D"/>
                </a:solidFill>
                <a:latin typeface="Calibri" pitchFamily="34" charset="0"/>
                <a:ea typeface="Calibri" pitchFamily="34" charset="-122"/>
                <a:cs typeface="Calibri" pitchFamily="34" charset="-120"/>
              </a:rPr>
              <a:t>State-transition matrix</a:t>
            </a:r>
            <a:endParaRPr lang="en-US" sz="1250" dirty="0"/>
          </a:p>
        </p:txBody>
      </p:sp>
      <p:sp>
        <p:nvSpPr>
          <p:cNvPr id="13" name="Text 11"/>
          <p:cNvSpPr/>
          <p:nvPr/>
        </p:nvSpPr>
        <p:spPr>
          <a:xfrm>
            <a:off x="5394960" y="3721608"/>
            <a:ext cx="6217920" cy="475488"/>
          </a:xfrm>
          <a:prstGeom prst="rect">
            <a:avLst/>
          </a:prstGeom>
          <a:noFill/>
          <a:ln/>
        </p:spPr>
        <p:txBody>
          <a:bodyPr wrap="square" rtlCol="0" anchor="ctr"/>
          <a:lstStyle/>
          <a:p>
            <a:pPr marL="0" indent="0">
              <a:buNone/>
            </a:pPr>
            <a:r>
              <a:rPr lang="en-US" sz="1250" dirty="0">
                <a:solidFill>
                  <a:srgbClr val="1B2A4A"/>
                </a:solidFill>
                <a:latin typeface="Consolas" pitchFamily="34" charset="0"/>
                <a:ea typeface="Consolas" pitchFamily="34" charset="-122"/>
                <a:cs typeface="Consolas" pitchFamily="34" charset="-120"/>
              </a:rPr>
              <a:t>Aᵢⱼ = P(Sₜ = j | Sₜ₋₁ = i)</a:t>
            </a:r>
            <a:endParaRPr lang="en-US" sz="1250" dirty="0"/>
          </a:p>
        </p:txBody>
      </p:sp>
      <p:sp>
        <p:nvSpPr>
          <p:cNvPr id="14" name="Shape 12"/>
          <p:cNvSpPr/>
          <p:nvPr/>
        </p:nvSpPr>
        <p:spPr>
          <a:xfrm>
            <a:off x="548640" y="4288536"/>
            <a:ext cx="640080" cy="475488"/>
          </a:xfrm>
          <a:prstGeom prst="rect">
            <a:avLst/>
          </a:prstGeom>
          <a:solidFill>
            <a:srgbClr val="F4F6FA"/>
          </a:solidFill>
          <a:ln w="9525">
            <a:solidFill>
              <a:srgbClr val="D9D9D9"/>
            </a:solidFill>
            <a:prstDash val="solid"/>
          </a:ln>
        </p:spPr>
        <p:txBody>
          <a:bodyPr/>
          <a:lstStyle/>
          <a:p>
            <a:endParaRPr lang="en-IN"/>
          </a:p>
        </p:txBody>
      </p:sp>
      <p:sp>
        <p:nvSpPr>
          <p:cNvPr id="15" name="Text 13"/>
          <p:cNvSpPr/>
          <p:nvPr/>
        </p:nvSpPr>
        <p:spPr>
          <a:xfrm>
            <a:off x="548640" y="4288536"/>
            <a:ext cx="640080" cy="475488"/>
          </a:xfrm>
          <a:prstGeom prst="rect">
            <a:avLst/>
          </a:prstGeom>
          <a:noFill/>
          <a:ln/>
        </p:spPr>
        <p:txBody>
          <a:bodyPr wrap="square" rtlCol="0" anchor="ctr"/>
          <a:lstStyle/>
          <a:p>
            <a:pPr marL="0" indent="0" algn="ctr">
              <a:buNone/>
            </a:pPr>
            <a:r>
              <a:rPr lang="en-US" sz="1600" b="1" dirty="0">
                <a:solidFill>
                  <a:srgbClr val="2E5AAC"/>
                </a:solidFill>
                <a:latin typeface="Calibri" pitchFamily="34" charset="0"/>
                <a:ea typeface="Calibri" pitchFamily="34" charset="-122"/>
                <a:cs typeface="Calibri" pitchFamily="34" charset="-120"/>
              </a:rPr>
              <a:t>B</a:t>
            </a:r>
            <a:endParaRPr lang="en-US" sz="1600" dirty="0"/>
          </a:p>
        </p:txBody>
      </p:sp>
      <p:sp>
        <p:nvSpPr>
          <p:cNvPr id="16" name="Text 14"/>
          <p:cNvSpPr/>
          <p:nvPr/>
        </p:nvSpPr>
        <p:spPr>
          <a:xfrm>
            <a:off x="1371600" y="4288536"/>
            <a:ext cx="3931920" cy="475488"/>
          </a:xfrm>
          <a:prstGeom prst="rect">
            <a:avLst/>
          </a:prstGeom>
          <a:noFill/>
          <a:ln/>
        </p:spPr>
        <p:txBody>
          <a:bodyPr wrap="square" rtlCol="0" anchor="ctr"/>
          <a:lstStyle/>
          <a:p>
            <a:pPr marL="0" indent="0">
              <a:buNone/>
            </a:pPr>
            <a:r>
              <a:rPr lang="en-US" sz="1250" dirty="0">
                <a:solidFill>
                  <a:srgbClr val="3D3D3D"/>
                </a:solidFill>
                <a:latin typeface="Calibri" pitchFamily="34" charset="0"/>
                <a:ea typeface="Calibri" pitchFamily="34" charset="-122"/>
                <a:cs typeface="Calibri" pitchFamily="34" charset="-120"/>
              </a:rPr>
              <a:t>Emission model</a:t>
            </a:r>
            <a:endParaRPr lang="en-US" sz="1250" dirty="0"/>
          </a:p>
        </p:txBody>
      </p:sp>
      <p:sp>
        <p:nvSpPr>
          <p:cNvPr id="17" name="Text 15"/>
          <p:cNvSpPr/>
          <p:nvPr/>
        </p:nvSpPr>
        <p:spPr>
          <a:xfrm>
            <a:off x="5394960" y="4288536"/>
            <a:ext cx="6217920" cy="475488"/>
          </a:xfrm>
          <a:prstGeom prst="rect">
            <a:avLst/>
          </a:prstGeom>
          <a:noFill/>
          <a:ln/>
        </p:spPr>
        <p:txBody>
          <a:bodyPr wrap="square" rtlCol="0" anchor="ctr"/>
          <a:lstStyle/>
          <a:p>
            <a:pPr marL="0" indent="0">
              <a:buNone/>
            </a:pPr>
            <a:r>
              <a:rPr lang="en-US" sz="1250" dirty="0">
                <a:solidFill>
                  <a:srgbClr val="1B2A4A"/>
                </a:solidFill>
                <a:latin typeface="Consolas" pitchFamily="34" charset="0"/>
                <a:ea typeface="Consolas" pitchFamily="34" charset="-122"/>
                <a:cs typeface="Consolas" pitchFamily="34" charset="-120"/>
              </a:rPr>
              <a:t>B(x) = P(Xₜ = x | Sₜ = j)</a:t>
            </a:r>
            <a:endParaRPr lang="en-US" sz="1250" dirty="0"/>
          </a:p>
        </p:txBody>
      </p:sp>
      <p:sp>
        <p:nvSpPr>
          <p:cNvPr id="18" name="Text 16"/>
          <p:cNvSpPr/>
          <p:nvPr/>
        </p:nvSpPr>
        <p:spPr>
          <a:xfrm>
            <a:off x="548640" y="4992624"/>
            <a:ext cx="11091672" cy="640080"/>
          </a:xfrm>
          <a:prstGeom prst="rect">
            <a:avLst/>
          </a:prstGeom>
          <a:noFill/>
          <a:ln/>
        </p:spPr>
        <p:txBody>
          <a:bodyPr wrap="square" rtlCol="0" anchor="ctr"/>
          <a:lstStyle/>
          <a:p>
            <a:pPr marL="0" indent="0">
              <a:lnSpc>
                <a:spcPct val="115000"/>
              </a:lnSpc>
              <a:buNone/>
            </a:pPr>
            <a:r>
              <a:rPr lang="en-US" sz="1250" i="1" dirty="0">
                <a:solidFill>
                  <a:srgbClr val="6E6E6E"/>
                </a:solidFill>
                <a:latin typeface="Calibri" pitchFamily="34" charset="0"/>
                <a:ea typeface="Calibri" pitchFamily="34" charset="-122"/>
                <a:cs typeface="Calibri" pitchFamily="34" charset="-120"/>
              </a:rPr>
              <a:t>In this project the hidden states {S₁, S₂, S₃} correspond to latent market regimes — Bull, Bear, Sideways — and observations Xₜ are the engineered market features at time t.</a:t>
            </a:r>
            <a:endParaRPr lang="en-US" sz="1250" dirty="0"/>
          </a:p>
        </p:txBody>
      </p:sp>
      <p:sp>
        <p:nvSpPr>
          <p:cNvPr id="19" name="Text 17"/>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20" name="Text 18"/>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THEORETICAL BACKGROUND</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Core Algorithms</a:t>
            </a:r>
            <a:endParaRPr lang="en-US" sz="2800" dirty="0"/>
          </a:p>
        </p:txBody>
      </p:sp>
      <p:sp>
        <p:nvSpPr>
          <p:cNvPr id="4" name="Shape 2"/>
          <p:cNvSpPr/>
          <p:nvPr/>
        </p:nvSpPr>
        <p:spPr>
          <a:xfrm>
            <a:off x="548640" y="1463040"/>
            <a:ext cx="3514344" cy="3566160"/>
          </a:xfrm>
          <a:prstGeom prst="rect">
            <a:avLst/>
          </a:prstGeom>
          <a:solidFill>
            <a:srgbClr val="F4F6FA"/>
          </a:solidFill>
          <a:ln w="9525">
            <a:solidFill>
              <a:srgbClr val="D9D9D9"/>
            </a:solidFill>
            <a:prstDash val="solid"/>
          </a:ln>
        </p:spPr>
        <p:txBody>
          <a:bodyPr/>
          <a:lstStyle/>
          <a:p>
            <a:endParaRPr lang="en-IN"/>
          </a:p>
        </p:txBody>
      </p:sp>
      <p:sp>
        <p:nvSpPr>
          <p:cNvPr id="5" name="Text 3"/>
          <p:cNvSpPr/>
          <p:nvPr/>
        </p:nvSpPr>
        <p:spPr>
          <a:xfrm>
            <a:off x="777240" y="1691640"/>
            <a:ext cx="3057144" cy="548640"/>
          </a:xfrm>
          <a:prstGeom prst="rect">
            <a:avLst/>
          </a:prstGeom>
          <a:noFill/>
          <a:ln/>
        </p:spPr>
        <p:txBody>
          <a:bodyPr wrap="square"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Forward–Backward</a:t>
            </a:r>
            <a:endParaRPr lang="en-US" sz="1450" dirty="0"/>
          </a:p>
        </p:txBody>
      </p:sp>
      <p:sp>
        <p:nvSpPr>
          <p:cNvPr id="6" name="Text 4"/>
          <p:cNvSpPr/>
          <p:nvPr/>
        </p:nvSpPr>
        <p:spPr>
          <a:xfrm>
            <a:off x="777240" y="2286000"/>
            <a:ext cx="3057144" cy="2560320"/>
          </a:xfrm>
          <a:prstGeom prst="rect">
            <a:avLst/>
          </a:prstGeom>
          <a:noFill/>
          <a:ln/>
        </p:spPr>
        <p:txBody>
          <a:bodyPr wrap="square" rtlCol="0" anchor="t"/>
          <a:lstStyle/>
          <a:p>
            <a:pPr marL="0" indent="0">
              <a:lnSpc>
                <a:spcPct val="120000"/>
              </a:lnSpc>
              <a:buNone/>
            </a:pPr>
            <a:r>
              <a:rPr lang="en-US" sz="1180" dirty="0">
                <a:solidFill>
                  <a:srgbClr val="3D3D3D"/>
                </a:solidFill>
                <a:latin typeface="Calibri" pitchFamily="34" charset="0"/>
                <a:ea typeface="Calibri" pitchFamily="34" charset="-122"/>
                <a:cs typeface="Calibri" pitchFamily="34" charset="-120"/>
              </a:rPr>
              <a:t>Forward computes the joint probability of observations-so-far and being in a state at time t via dynamic programming. Backward computes the probability of all future observations given the current state. Together they give the exact posterior of any state at any time — the statistical foundation for Baum–Welch.</a:t>
            </a:r>
            <a:endParaRPr lang="en-US" sz="1180" dirty="0"/>
          </a:p>
        </p:txBody>
      </p:sp>
      <p:sp>
        <p:nvSpPr>
          <p:cNvPr id="7" name="Shape 5"/>
          <p:cNvSpPr/>
          <p:nvPr/>
        </p:nvSpPr>
        <p:spPr>
          <a:xfrm>
            <a:off x="4337304" y="1463040"/>
            <a:ext cx="3514344" cy="3566160"/>
          </a:xfrm>
          <a:prstGeom prst="rect">
            <a:avLst/>
          </a:prstGeom>
          <a:solidFill>
            <a:srgbClr val="F4F6FA"/>
          </a:solidFill>
          <a:ln w="9525">
            <a:solidFill>
              <a:srgbClr val="D9D9D9"/>
            </a:solidFill>
            <a:prstDash val="solid"/>
          </a:ln>
        </p:spPr>
        <p:txBody>
          <a:bodyPr/>
          <a:lstStyle/>
          <a:p>
            <a:endParaRPr lang="en-IN"/>
          </a:p>
        </p:txBody>
      </p:sp>
      <p:sp>
        <p:nvSpPr>
          <p:cNvPr id="8" name="Text 6"/>
          <p:cNvSpPr/>
          <p:nvPr/>
        </p:nvSpPr>
        <p:spPr>
          <a:xfrm>
            <a:off x="4565904" y="1691640"/>
            <a:ext cx="3057144" cy="548640"/>
          </a:xfrm>
          <a:prstGeom prst="rect">
            <a:avLst/>
          </a:prstGeom>
          <a:noFill/>
          <a:ln/>
        </p:spPr>
        <p:txBody>
          <a:bodyPr wrap="square"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Baum–Welch (Learning)</a:t>
            </a:r>
            <a:endParaRPr lang="en-US" sz="1450" dirty="0"/>
          </a:p>
        </p:txBody>
      </p:sp>
      <p:sp>
        <p:nvSpPr>
          <p:cNvPr id="9" name="Text 7"/>
          <p:cNvSpPr/>
          <p:nvPr/>
        </p:nvSpPr>
        <p:spPr>
          <a:xfrm>
            <a:off x="4565904" y="2286000"/>
            <a:ext cx="3057144" cy="2560320"/>
          </a:xfrm>
          <a:prstGeom prst="rect">
            <a:avLst/>
          </a:prstGeom>
          <a:noFill/>
          <a:ln/>
        </p:spPr>
        <p:txBody>
          <a:bodyPr wrap="square" rtlCol="0" anchor="t"/>
          <a:lstStyle/>
          <a:p>
            <a:pPr marL="0" indent="0">
              <a:lnSpc>
                <a:spcPct val="120000"/>
              </a:lnSpc>
              <a:buNone/>
            </a:pPr>
            <a:r>
              <a:rPr lang="en-US" sz="1180" dirty="0">
                <a:solidFill>
                  <a:srgbClr val="3D3D3D"/>
                </a:solidFill>
                <a:latin typeface="Calibri" pitchFamily="34" charset="0"/>
                <a:ea typeface="Calibri" pitchFamily="34" charset="-122"/>
                <a:cs typeface="Calibri" pitchFamily="34" charset="-120"/>
              </a:rPr>
              <a:t>An Expectation–Maximization instance for HMMs. E-step: run Forward–Backward to get posterior state and transition probabilities. M-step: re-estimate π, A, B as weighted averages. Iterate to convergence of the data log-likelihood. No labelled regime data required.</a:t>
            </a:r>
            <a:endParaRPr lang="en-US" sz="1180" dirty="0"/>
          </a:p>
        </p:txBody>
      </p:sp>
      <p:sp>
        <p:nvSpPr>
          <p:cNvPr id="10" name="Shape 8"/>
          <p:cNvSpPr/>
          <p:nvPr/>
        </p:nvSpPr>
        <p:spPr>
          <a:xfrm>
            <a:off x="8125968" y="1463040"/>
            <a:ext cx="3514344" cy="3566160"/>
          </a:xfrm>
          <a:prstGeom prst="rect">
            <a:avLst/>
          </a:prstGeom>
          <a:solidFill>
            <a:srgbClr val="F4F6FA"/>
          </a:solidFill>
          <a:ln w="9525">
            <a:solidFill>
              <a:srgbClr val="D9D9D9"/>
            </a:solidFill>
            <a:prstDash val="solid"/>
          </a:ln>
        </p:spPr>
        <p:txBody>
          <a:bodyPr/>
          <a:lstStyle/>
          <a:p>
            <a:endParaRPr lang="en-IN"/>
          </a:p>
        </p:txBody>
      </p:sp>
      <p:sp>
        <p:nvSpPr>
          <p:cNvPr id="11" name="Text 9"/>
          <p:cNvSpPr/>
          <p:nvPr/>
        </p:nvSpPr>
        <p:spPr>
          <a:xfrm>
            <a:off x="8354568" y="1691640"/>
            <a:ext cx="3057144" cy="548640"/>
          </a:xfrm>
          <a:prstGeom prst="rect">
            <a:avLst/>
          </a:prstGeom>
          <a:noFill/>
          <a:ln/>
        </p:spPr>
        <p:txBody>
          <a:bodyPr wrap="square"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Viterbi (Decoding)</a:t>
            </a:r>
            <a:endParaRPr lang="en-US" sz="1450" dirty="0"/>
          </a:p>
        </p:txBody>
      </p:sp>
      <p:sp>
        <p:nvSpPr>
          <p:cNvPr id="12" name="Text 10"/>
          <p:cNvSpPr/>
          <p:nvPr/>
        </p:nvSpPr>
        <p:spPr>
          <a:xfrm>
            <a:off x="8354568" y="2286000"/>
            <a:ext cx="3057144" cy="2560320"/>
          </a:xfrm>
          <a:prstGeom prst="rect">
            <a:avLst/>
          </a:prstGeom>
          <a:noFill/>
          <a:ln/>
        </p:spPr>
        <p:txBody>
          <a:bodyPr wrap="square" rtlCol="0" anchor="t"/>
          <a:lstStyle/>
          <a:p>
            <a:pPr marL="0" indent="0">
              <a:lnSpc>
                <a:spcPct val="120000"/>
              </a:lnSpc>
              <a:buNone/>
            </a:pPr>
            <a:r>
              <a:rPr lang="en-US" sz="1180" dirty="0">
                <a:solidFill>
                  <a:srgbClr val="3D3D3D"/>
                </a:solidFill>
                <a:latin typeface="Calibri" pitchFamily="34" charset="0"/>
                <a:ea typeface="Calibri" pitchFamily="34" charset="-122"/>
                <a:cs typeface="Calibri" pitchFamily="34" charset="-120"/>
              </a:rPr>
              <a:t>Finds the single most probable hidden-state sequence for the full observation sequence — unlike Forward–Backward's per-time-step marginals. Uses DP over the state–time trellis, tracking the highest-probability path to each state and backtracking at the end. Produces the final regime timeline.</a:t>
            </a:r>
            <a:endParaRPr lang="en-US" sz="1180" dirty="0"/>
          </a:p>
        </p:txBody>
      </p:sp>
      <p:sp>
        <p:nvSpPr>
          <p:cNvPr id="13" name="Text 11"/>
          <p:cNvSpPr/>
          <p:nvPr/>
        </p:nvSpPr>
        <p:spPr>
          <a:xfrm>
            <a:off x="548640" y="5257800"/>
            <a:ext cx="11091672" cy="685800"/>
          </a:xfrm>
          <a:prstGeom prst="rect">
            <a:avLst/>
          </a:prstGeom>
          <a:noFill/>
          <a:ln/>
        </p:spPr>
        <p:txBody>
          <a:bodyPr wrap="square" rtlCol="0" anchor="ctr"/>
          <a:lstStyle/>
          <a:p>
            <a:pPr marL="0" indent="0">
              <a:lnSpc>
                <a:spcPct val="115000"/>
              </a:lnSpc>
              <a:buNone/>
            </a:pPr>
            <a:r>
              <a:rPr lang="en-US" sz="1200" i="1" dirty="0">
                <a:solidFill>
                  <a:srgbClr val="6E6E6E"/>
                </a:solidFill>
                <a:latin typeface="Calibri" pitchFamily="34" charset="0"/>
                <a:ea typeface="Calibri" pitchFamily="34" charset="-122"/>
                <a:cs typeface="Calibri" pitchFamily="34" charset="-120"/>
              </a:rPr>
              <a:t>Note: an HMM does not inherently know what “Bull” or “Bear” means. Baum–Welch discovers statistically distinct hidden states from data patterns alone; financial labels are assigned afterward from each state’s mean return and volatility.</a:t>
            </a:r>
            <a:endParaRPr lang="en-US" sz="1200" dirty="0"/>
          </a:p>
        </p:txBody>
      </p:sp>
      <p:sp>
        <p:nvSpPr>
          <p:cNvPr id="14" name="Text 12"/>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15" name="Text 13"/>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Data, Feature Engineering &amp; Preprocessing</a:t>
            </a:r>
            <a:endParaRPr lang="en-US" sz="2800" dirty="0"/>
          </a:p>
        </p:txBody>
      </p:sp>
      <p:sp>
        <p:nvSpPr>
          <p:cNvPr id="4" name="Text 2"/>
          <p:cNvSpPr/>
          <p:nvPr/>
        </p:nvSpPr>
        <p:spPr>
          <a:xfrm>
            <a:off x="548640" y="1417320"/>
            <a:ext cx="5212080" cy="292608"/>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Data Source</a:t>
            </a:r>
            <a:endParaRPr lang="en-US" sz="1400" dirty="0"/>
          </a:p>
        </p:txBody>
      </p:sp>
      <p:sp>
        <p:nvSpPr>
          <p:cNvPr id="5" name="Text 3"/>
          <p:cNvSpPr/>
          <p:nvPr/>
        </p:nvSpPr>
        <p:spPr>
          <a:xfrm>
            <a:off x="548640" y="1737360"/>
            <a:ext cx="5212080" cy="1371600"/>
          </a:xfrm>
          <a:prstGeom prst="rect">
            <a:avLst/>
          </a:prstGeom>
          <a:noFill/>
          <a:ln/>
        </p:spPr>
        <p:txBody>
          <a:bodyPr wrap="square" rtlCol="0" anchor="t"/>
          <a:lstStyle/>
          <a:p>
            <a:pPr marL="0" indent="0">
              <a:lnSpc>
                <a:spcPct val="118000"/>
              </a:lnSpc>
              <a:buNone/>
            </a:pPr>
            <a:r>
              <a:rPr lang="en-US" sz="1200" dirty="0">
                <a:solidFill>
                  <a:srgbClr val="3D3D3D"/>
                </a:solidFill>
                <a:latin typeface="Calibri" pitchFamily="34" charset="0"/>
                <a:ea typeface="Calibri" pitchFamily="34" charset="-122"/>
                <a:cs typeface="Calibri" pitchFamily="34" charset="-120"/>
              </a:rPr>
              <a:t>S&amp;P 500 index (OHLCV) — a single major index rather than a heterogeneous stock basket, chosen to characterise the regime of the market as a whole. As the benchmark of the US equity market, it offers a robust, broad, and internationally recognised basis for regime modelling.</a:t>
            </a:r>
            <a:endParaRPr lang="en-US" sz="1200" dirty="0"/>
          </a:p>
        </p:txBody>
      </p:sp>
      <p:sp>
        <p:nvSpPr>
          <p:cNvPr id="6" name="Text 4"/>
          <p:cNvSpPr/>
          <p:nvPr/>
        </p:nvSpPr>
        <p:spPr>
          <a:xfrm>
            <a:off x="548640" y="3200400"/>
            <a:ext cx="5212080" cy="292608"/>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Preprocessing Pipeline</a:t>
            </a:r>
            <a:endParaRPr lang="en-US" sz="1400" dirty="0"/>
          </a:p>
        </p:txBody>
      </p:sp>
      <p:sp>
        <p:nvSpPr>
          <p:cNvPr id="7" name="Text 5"/>
          <p:cNvSpPr/>
          <p:nvPr/>
        </p:nvSpPr>
        <p:spPr>
          <a:xfrm>
            <a:off x="548640" y="3520440"/>
            <a:ext cx="5212080" cy="2651760"/>
          </a:xfrm>
          <a:prstGeom prst="rect">
            <a:avLst/>
          </a:prstGeom>
          <a:noFill/>
          <a:ln/>
        </p:spPr>
        <p:txBody>
          <a:bodyPr wrap="square" rtlCol="0" anchor="t"/>
          <a:lstStyle/>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Retrieve historical OHLCV data and sort chronologically</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Handle missing values and non-trading-day gaps</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Compute log returns, rolling volatility, volume features, and momentum</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Standardise continuous features: X′ = (X − μ) / σ</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Assemble the final multivariate observation matrix for the HMM</a:t>
            </a:r>
            <a:endParaRPr lang="en-US" sz="1150" dirty="0"/>
          </a:p>
        </p:txBody>
      </p:sp>
      <p:sp>
        <p:nvSpPr>
          <p:cNvPr id="8" name="Text 6"/>
          <p:cNvSpPr/>
          <p:nvPr/>
        </p:nvSpPr>
        <p:spPr>
          <a:xfrm>
            <a:off x="6309360" y="1417320"/>
            <a:ext cx="5330952" cy="292608"/>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Engineered Features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09360" y="1755648"/>
          <a:ext cx="5029200" cy="2834640"/>
        </p:xfrm>
        <a:graphic>
          <a:graphicData uri="http://schemas.openxmlformats.org/drawingml/2006/table">
            <a:tbl>
              <a:tblPr/>
              <a:tblGrid>
                <a:gridCol w="14173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6692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Interpretation</a:t>
                      </a:r>
                      <a:endParaRPr lang="en-US" sz="115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66928">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Daily return  rₜ</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080" dirty="0">
                          <a:solidFill>
                            <a:srgbClr val="3D3D3D"/>
                          </a:solidFill>
                          <a:latin typeface="Consolas" pitchFamily="34" charset="0"/>
                          <a:ea typeface="Consolas" pitchFamily="34" charset="-122"/>
                          <a:cs typeface="Consolas" pitchFamily="34" charset="-120"/>
                        </a:rPr>
                        <a:t>ln(Pₜ / Pₜ₋₁)</a:t>
                      </a:r>
                      <a:endParaRPr lang="en-US" sz="1080" dirty="0">
                        <a:latin typeface="Consolas" charset="0"/>
                        <a:ea typeface="Consolas" charset="0"/>
                        <a:cs typeface="Consolas"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Direction &amp; magnitude of price move</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Rolling volatility σₜ</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A"/>
                    </a:solidFill>
                  </a:tcPr>
                </a:tc>
                <a:tc>
                  <a:txBody>
                    <a:bodyPr/>
                    <a:lstStyle/>
                    <a:p>
                      <a:pPr marL="0" indent="0" algn="l">
                        <a:buNone/>
                      </a:pPr>
                      <a:r>
                        <a:rPr lang="en-US" sz="1080" dirty="0">
                          <a:solidFill>
                            <a:srgbClr val="3D3D3D"/>
                          </a:solidFill>
                          <a:latin typeface="Consolas" pitchFamily="34" charset="0"/>
                          <a:ea typeface="Consolas" pitchFamily="34" charset="-122"/>
                          <a:cs typeface="Consolas" pitchFamily="34" charset="-120"/>
                        </a:rPr>
                        <a:t>Std of returns, rolling window</a:t>
                      </a:r>
                      <a:endParaRPr lang="en-US" sz="1080" dirty="0">
                        <a:latin typeface="Consolas" charset="0"/>
                        <a:ea typeface="Consolas" charset="0"/>
                        <a:cs typeface="Consolas"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A"/>
                    </a:solidFill>
                  </a:tcPr>
                </a:tc>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Degree of market turbulence</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566928">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Trading volume</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080" dirty="0">
                          <a:solidFill>
                            <a:srgbClr val="3D3D3D"/>
                          </a:solidFill>
                          <a:latin typeface="Consolas" pitchFamily="34" charset="0"/>
                          <a:ea typeface="Consolas" pitchFamily="34" charset="-122"/>
                          <a:cs typeface="Consolas" pitchFamily="34" charset="-120"/>
                        </a:rPr>
                        <a:t>Raw / normalised volume</a:t>
                      </a:r>
                      <a:endParaRPr lang="en-US" sz="1080" dirty="0">
                        <a:latin typeface="Consolas" charset="0"/>
                        <a:ea typeface="Consolas" charset="0"/>
                        <a:cs typeface="Consolas"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Level of market participation</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Momentum</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A"/>
                    </a:solidFill>
                  </a:tcPr>
                </a:tc>
                <a:tc>
                  <a:txBody>
                    <a:bodyPr/>
                    <a:lstStyle/>
                    <a:p>
                      <a:pPr marL="0" indent="0" algn="l">
                        <a:buNone/>
                      </a:pPr>
                      <a:r>
                        <a:rPr lang="en-US" sz="1080" dirty="0">
                          <a:solidFill>
                            <a:srgbClr val="3D3D3D"/>
                          </a:solidFill>
                          <a:latin typeface="Consolas" pitchFamily="34" charset="0"/>
                          <a:ea typeface="Consolas" pitchFamily="34" charset="-122"/>
                          <a:cs typeface="Consolas" pitchFamily="34" charset="-120"/>
                        </a:rPr>
                        <a:t>Pₜ − Pₜ₋ₖ (normalised)</a:t>
                      </a:r>
                      <a:endParaRPr lang="en-US" sz="1080" dirty="0">
                        <a:latin typeface="Consolas" charset="0"/>
                        <a:ea typeface="Consolas" charset="0"/>
                        <a:cs typeface="Consolas"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A"/>
                    </a:solidFill>
                  </a:tcPr>
                </a:tc>
                <a:tc>
                  <a:txBody>
                    <a:bodyPr/>
                    <a:lstStyle/>
                    <a:p>
                      <a:pPr marL="0" indent="0" algn="l">
                        <a:buNone/>
                      </a:pPr>
                      <a:r>
                        <a:rPr lang="en-US" sz="1080" dirty="0">
                          <a:solidFill>
                            <a:srgbClr val="3D3D3D"/>
                          </a:solidFill>
                          <a:latin typeface="Calibri" pitchFamily="34" charset="0"/>
                          <a:ea typeface="Calibri" pitchFamily="34" charset="-122"/>
                          <a:cs typeface="Calibri" pitchFamily="34" charset="-120"/>
                        </a:rPr>
                        <a:t>Sustained directional pressure</a:t>
                      </a:r>
                      <a:endParaRPr lang="en-US" sz="108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bl>
          </a:graphicData>
        </a:graphic>
      </p:graphicFrame>
      <p:sp>
        <p:nvSpPr>
          <p:cNvPr id="10" name="Text 7"/>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11" name="Text 8"/>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6" name="Shape 7">
            <a:extLst>
              <a:ext uri="{FF2B5EF4-FFF2-40B4-BE49-F238E27FC236}">
                <a16:creationId xmlns:a16="http://schemas.microsoft.com/office/drawing/2014/main" id="{437096E6-576A-B07E-0263-93310A1C4273}"/>
              </a:ext>
            </a:extLst>
          </p:cNvPr>
          <p:cNvSpPr/>
          <p:nvPr/>
        </p:nvSpPr>
        <p:spPr>
          <a:xfrm>
            <a:off x="7370064" y="1965960"/>
            <a:ext cx="2084832" cy="1051560"/>
          </a:xfrm>
          <a:prstGeom prst="roundRect">
            <a:avLst>
              <a:gd name="adj" fmla="val 5217"/>
            </a:avLst>
          </a:prstGeom>
          <a:solidFill>
            <a:srgbClr val="EAF2EC"/>
          </a:solidFill>
          <a:ln w="12700">
            <a:solidFill>
              <a:srgbClr val="3E7A4E"/>
            </a:solidFill>
            <a:prstDash val="solid"/>
          </a:ln>
        </p:spPr>
        <p:txBody>
          <a:bodyPr/>
          <a:lstStyle/>
          <a:p>
            <a:endParaRPr lang="en-IN"/>
          </a:p>
        </p:txBody>
      </p:sp>
      <p:sp>
        <p:nvSpPr>
          <p:cNvPr id="64" name="Shape 7">
            <a:extLst>
              <a:ext uri="{FF2B5EF4-FFF2-40B4-BE49-F238E27FC236}">
                <a16:creationId xmlns:a16="http://schemas.microsoft.com/office/drawing/2014/main" id="{33BA2DA2-7B14-FB32-D37F-DC9B48291088}"/>
              </a:ext>
            </a:extLst>
          </p:cNvPr>
          <p:cNvSpPr/>
          <p:nvPr/>
        </p:nvSpPr>
        <p:spPr>
          <a:xfrm>
            <a:off x="5052060" y="1963675"/>
            <a:ext cx="2084832" cy="1051560"/>
          </a:xfrm>
          <a:prstGeom prst="roundRect">
            <a:avLst>
              <a:gd name="adj" fmla="val 5217"/>
            </a:avLst>
          </a:prstGeom>
          <a:solidFill>
            <a:srgbClr val="EAF2EC"/>
          </a:solidFill>
          <a:ln w="12700">
            <a:solidFill>
              <a:srgbClr val="3E7A4E"/>
            </a:solidFill>
            <a:prstDash val="solid"/>
          </a:ln>
        </p:spPr>
        <p:txBody>
          <a:bodyPr/>
          <a:lstStyle/>
          <a:p>
            <a:endParaRPr lang="en-IN"/>
          </a:p>
        </p:txBody>
      </p:sp>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443484" y="1965960"/>
            <a:ext cx="2084832" cy="1051560"/>
          </a:xfrm>
          <a:prstGeom prst="roundRect">
            <a:avLst>
              <a:gd name="adj" fmla="val 5217"/>
            </a:avLst>
          </a:prstGeom>
          <a:solidFill>
            <a:srgbClr val="EAF2EC"/>
          </a:solidFill>
          <a:ln w="12700">
            <a:solidFill>
              <a:srgbClr val="3E7A4E"/>
            </a:solidFill>
            <a:prstDash val="solid"/>
          </a:ln>
        </p:spPr>
        <p:txBody>
          <a:bodyPr/>
          <a:lstStyle/>
          <a:p>
            <a:endParaRPr lang="en-IN"/>
          </a:p>
        </p:txBody>
      </p:sp>
      <p:sp>
        <p:nvSpPr>
          <p:cNvPr id="5" name="Shape 3"/>
          <p:cNvSpPr/>
          <p:nvPr/>
        </p:nvSpPr>
        <p:spPr>
          <a:xfrm>
            <a:off x="315468" y="1837944"/>
            <a:ext cx="292608" cy="292608"/>
          </a:xfrm>
          <a:prstGeom prst="ellipse">
            <a:avLst/>
          </a:prstGeom>
          <a:solidFill>
            <a:srgbClr val="1B2A4A"/>
          </a:solidFill>
          <a:ln w="15875">
            <a:solidFill>
              <a:srgbClr val="FFFFFF"/>
            </a:solidFill>
            <a:prstDash val="solid"/>
          </a:ln>
        </p:spPr>
        <p:txBody>
          <a:bodyPr/>
          <a:lstStyle/>
          <a:p>
            <a:endParaRPr lang="en-IN"/>
          </a:p>
        </p:txBody>
      </p:sp>
      <p:sp>
        <p:nvSpPr>
          <p:cNvPr id="6" name="Text 4"/>
          <p:cNvSpPr/>
          <p:nvPr/>
        </p:nvSpPr>
        <p:spPr>
          <a:xfrm>
            <a:off x="315468" y="183794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7" name="Text 5"/>
          <p:cNvSpPr/>
          <p:nvPr/>
        </p:nvSpPr>
        <p:spPr>
          <a:xfrm>
            <a:off x="534924" y="196596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Historical Market Data</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(OHLCV — S&amp;P 500)</a:t>
            </a:r>
            <a:endParaRPr lang="en-US" sz="1050" dirty="0"/>
          </a:p>
        </p:txBody>
      </p:sp>
      <p:sp>
        <p:nvSpPr>
          <p:cNvPr id="8" name="Shape 6"/>
          <p:cNvSpPr/>
          <p:nvPr/>
        </p:nvSpPr>
        <p:spPr>
          <a:xfrm>
            <a:off x="2555748" y="2491740"/>
            <a:ext cx="164592" cy="0"/>
          </a:xfrm>
          <a:prstGeom prst="line">
            <a:avLst/>
          </a:prstGeom>
          <a:noFill/>
          <a:ln w="15875">
            <a:solidFill>
              <a:srgbClr val="6E6E6E"/>
            </a:solidFill>
            <a:prstDash val="solid"/>
            <a:tailEnd type="triangle"/>
          </a:ln>
        </p:spPr>
        <p:txBody>
          <a:bodyPr/>
          <a:lstStyle/>
          <a:p>
            <a:endParaRPr lang="en-IN"/>
          </a:p>
        </p:txBody>
      </p:sp>
      <p:sp>
        <p:nvSpPr>
          <p:cNvPr id="9" name="Shape 7"/>
          <p:cNvSpPr/>
          <p:nvPr/>
        </p:nvSpPr>
        <p:spPr>
          <a:xfrm>
            <a:off x="2747772" y="1965960"/>
            <a:ext cx="2084832" cy="1051560"/>
          </a:xfrm>
          <a:prstGeom prst="roundRect">
            <a:avLst>
              <a:gd name="adj" fmla="val 5217"/>
            </a:avLst>
          </a:prstGeom>
          <a:solidFill>
            <a:srgbClr val="EAF2EC"/>
          </a:solidFill>
          <a:ln w="12700">
            <a:solidFill>
              <a:srgbClr val="3E7A4E"/>
            </a:solidFill>
            <a:prstDash val="solid"/>
          </a:ln>
        </p:spPr>
        <p:txBody>
          <a:bodyPr/>
          <a:lstStyle/>
          <a:p>
            <a:endParaRPr lang="en-IN"/>
          </a:p>
        </p:txBody>
      </p:sp>
      <p:sp>
        <p:nvSpPr>
          <p:cNvPr id="10" name="Shape 8"/>
          <p:cNvSpPr/>
          <p:nvPr/>
        </p:nvSpPr>
        <p:spPr>
          <a:xfrm>
            <a:off x="2619756" y="1837944"/>
            <a:ext cx="292608" cy="292608"/>
          </a:xfrm>
          <a:prstGeom prst="ellipse">
            <a:avLst/>
          </a:prstGeom>
          <a:solidFill>
            <a:srgbClr val="1B2A4A"/>
          </a:solidFill>
          <a:ln w="15875">
            <a:solidFill>
              <a:srgbClr val="FFFFFF"/>
            </a:solidFill>
            <a:prstDash val="solid"/>
          </a:ln>
        </p:spPr>
        <p:txBody>
          <a:bodyPr/>
          <a:lstStyle/>
          <a:p>
            <a:endParaRPr lang="en-IN"/>
          </a:p>
        </p:txBody>
      </p:sp>
      <p:sp>
        <p:nvSpPr>
          <p:cNvPr id="11" name="Text 9"/>
          <p:cNvSpPr/>
          <p:nvPr/>
        </p:nvSpPr>
        <p:spPr>
          <a:xfrm>
            <a:off x="2619756" y="183794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2" name="Text 10"/>
          <p:cNvSpPr/>
          <p:nvPr/>
        </p:nvSpPr>
        <p:spPr>
          <a:xfrm>
            <a:off x="2839212" y="196596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Data Preprocessing</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Cleaning · Chronological Sort</a:t>
            </a:r>
            <a:endParaRPr lang="en-US" sz="1050" dirty="0"/>
          </a:p>
        </p:txBody>
      </p:sp>
      <p:sp>
        <p:nvSpPr>
          <p:cNvPr id="13" name="Shape 11"/>
          <p:cNvSpPr/>
          <p:nvPr/>
        </p:nvSpPr>
        <p:spPr>
          <a:xfrm>
            <a:off x="4860036" y="2491740"/>
            <a:ext cx="164592" cy="0"/>
          </a:xfrm>
          <a:prstGeom prst="line">
            <a:avLst/>
          </a:prstGeom>
          <a:noFill/>
          <a:ln w="15875">
            <a:solidFill>
              <a:srgbClr val="6E6E6E"/>
            </a:solidFill>
            <a:prstDash val="solid"/>
            <a:tailEnd type="triangle"/>
          </a:ln>
        </p:spPr>
        <p:txBody>
          <a:bodyPr/>
          <a:lstStyle/>
          <a:p>
            <a:endParaRPr lang="en-IN"/>
          </a:p>
        </p:txBody>
      </p:sp>
      <p:sp>
        <p:nvSpPr>
          <p:cNvPr id="15" name="Shape 13"/>
          <p:cNvSpPr/>
          <p:nvPr/>
        </p:nvSpPr>
        <p:spPr>
          <a:xfrm>
            <a:off x="4924044" y="1837944"/>
            <a:ext cx="292608" cy="292608"/>
          </a:xfrm>
          <a:prstGeom prst="ellipse">
            <a:avLst/>
          </a:prstGeom>
          <a:solidFill>
            <a:srgbClr val="1B2A4A"/>
          </a:solidFill>
          <a:ln w="15875">
            <a:solidFill>
              <a:srgbClr val="FFFFFF"/>
            </a:solidFill>
            <a:prstDash val="solid"/>
          </a:ln>
        </p:spPr>
        <p:txBody>
          <a:bodyPr/>
          <a:lstStyle/>
          <a:p>
            <a:endParaRPr lang="en-IN"/>
          </a:p>
        </p:txBody>
      </p:sp>
      <p:sp>
        <p:nvSpPr>
          <p:cNvPr id="16" name="Text 14"/>
          <p:cNvSpPr/>
          <p:nvPr/>
        </p:nvSpPr>
        <p:spPr>
          <a:xfrm>
            <a:off x="4924044" y="183794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7" name="Text 15"/>
          <p:cNvSpPr/>
          <p:nvPr/>
        </p:nvSpPr>
        <p:spPr>
          <a:xfrm>
            <a:off x="5143500" y="196596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Feature Engineering</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Return · Volatility · Volume · Momentum</a:t>
            </a:r>
            <a:endParaRPr lang="en-US" sz="1050" dirty="0"/>
          </a:p>
        </p:txBody>
      </p:sp>
      <p:sp>
        <p:nvSpPr>
          <p:cNvPr id="18" name="Shape 16"/>
          <p:cNvSpPr/>
          <p:nvPr/>
        </p:nvSpPr>
        <p:spPr>
          <a:xfrm>
            <a:off x="7164324" y="2491740"/>
            <a:ext cx="164592" cy="0"/>
          </a:xfrm>
          <a:prstGeom prst="line">
            <a:avLst/>
          </a:prstGeom>
          <a:noFill/>
          <a:ln w="15875">
            <a:solidFill>
              <a:srgbClr val="6E6E6E"/>
            </a:solidFill>
            <a:prstDash val="solid"/>
            <a:tailEnd type="triangle"/>
          </a:ln>
        </p:spPr>
        <p:txBody>
          <a:bodyPr/>
          <a:lstStyle/>
          <a:p>
            <a:endParaRPr lang="en-IN"/>
          </a:p>
        </p:txBody>
      </p:sp>
      <p:sp>
        <p:nvSpPr>
          <p:cNvPr id="20" name="Shape 18"/>
          <p:cNvSpPr/>
          <p:nvPr/>
        </p:nvSpPr>
        <p:spPr>
          <a:xfrm>
            <a:off x="7228332" y="1837944"/>
            <a:ext cx="292608" cy="292608"/>
          </a:xfrm>
          <a:prstGeom prst="ellipse">
            <a:avLst/>
          </a:prstGeom>
          <a:solidFill>
            <a:srgbClr val="1B2A4A"/>
          </a:solidFill>
          <a:ln w="15875">
            <a:solidFill>
              <a:srgbClr val="FFFFFF"/>
            </a:solidFill>
            <a:prstDash val="solid"/>
          </a:ln>
        </p:spPr>
        <p:txBody>
          <a:bodyPr/>
          <a:lstStyle/>
          <a:p>
            <a:endParaRPr lang="en-IN"/>
          </a:p>
        </p:txBody>
      </p:sp>
      <p:sp>
        <p:nvSpPr>
          <p:cNvPr id="21" name="Text 19"/>
          <p:cNvSpPr/>
          <p:nvPr/>
        </p:nvSpPr>
        <p:spPr>
          <a:xfrm>
            <a:off x="7228332" y="183794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2" name="Text 20"/>
          <p:cNvSpPr/>
          <p:nvPr/>
        </p:nvSpPr>
        <p:spPr>
          <a:xfrm>
            <a:off x="7447788" y="196596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Standardisation</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Observation Matrix</a:t>
            </a:r>
            <a:endParaRPr lang="en-US" sz="1050" dirty="0"/>
          </a:p>
        </p:txBody>
      </p:sp>
      <p:sp>
        <p:nvSpPr>
          <p:cNvPr id="23" name="Shape 21"/>
          <p:cNvSpPr/>
          <p:nvPr/>
        </p:nvSpPr>
        <p:spPr>
          <a:xfrm>
            <a:off x="9468612" y="2491740"/>
            <a:ext cx="164592" cy="0"/>
          </a:xfrm>
          <a:prstGeom prst="line">
            <a:avLst/>
          </a:prstGeom>
          <a:noFill/>
          <a:ln w="15875">
            <a:solidFill>
              <a:srgbClr val="6E6E6E"/>
            </a:solidFill>
            <a:prstDash val="solid"/>
            <a:tailEnd type="triangle"/>
          </a:ln>
        </p:spPr>
        <p:txBody>
          <a:bodyPr/>
          <a:lstStyle/>
          <a:p>
            <a:endParaRPr lang="en-IN"/>
          </a:p>
        </p:txBody>
      </p:sp>
      <p:sp>
        <p:nvSpPr>
          <p:cNvPr id="24" name="Shape 22"/>
          <p:cNvSpPr/>
          <p:nvPr/>
        </p:nvSpPr>
        <p:spPr>
          <a:xfrm>
            <a:off x="9660636" y="1965960"/>
            <a:ext cx="2084832" cy="1051560"/>
          </a:xfrm>
          <a:prstGeom prst="roundRect">
            <a:avLst>
              <a:gd name="adj" fmla="val 5217"/>
            </a:avLst>
          </a:prstGeom>
          <a:solidFill>
            <a:srgbClr val="FBF3E3"/>
          </a:solidFill>
          <a:ln w="12700">
            <a:solidFill>
              <a:srgbClr val="D9D9D9"/>
            </a:solidFill>
            <a:prstDash val="solid"/>
          </a:ln>
        </p:spPr>
        <p:txBody>
          <a:bodyPr/>
          <a:lstStyle/>
          <a:p>
            <a:endParaRPr lang="en-IN"/>
          </a:p>
        </p:txBody>
      </p:sp>
      <p:sp>
        <p:nvSpPr>
          <p:cNvPr id="25" name="Shape 23"/>
          <p:cNvSpPr/>
          <p:nvPr/>
        </p:nvSpPr>
        <p:spPr>
          <a:xfrm>
            <a:off x="9532620" y="1837944"/>
            <a:ext cx="292608" cy="292608"/>
          </a:xfrm>
          <a:prstGeom prst="ellipse">
            <a:avLst/>
          </a:prstGeom>
          <a:solidFill>
            <a:srgbClr val="1B2A4A"/>
          </a:solidFill>
          <a:ln w="15875">
            <a:solidFill>
              <a:srgbClr val="FFFFFF"/>
            </a:solidFill>
            <a:prstDash val="solid"/>
          </a:ln>
        </p:spPr>
        <p:txBody>
          <a:bodyPr/>
          <a:lstStyle/>
          <a:p>
            <a:endParaRPr lang="en-IN"/>
          </a:p>
        </p:txBody>
      </p:sp>
      <p:sp>
        <p:nvSpPr>
          <p:cNvPr id="26" name="Text 24"/>
          <p:cNvSpPr/>
          <p:nvPr/>
        </p:nvSpPr>
        <p:spPr>
          <a:xfrm>
            <a:off x="9532620" y="183794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7" name="Text 25"/>
          <p:cNvSpPr/>
          <p:nvPr/>
        </p:nvSpPr>
        <p:spPr>
          <a:xfrm>
            <a:off x="9752076" y="196596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Hidden Markov Model</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Gaussian Emissions, 3 States</a:t>
            </a:r>
            <a:endParaRPr lang="en-US" sz="1050" dirty="0"/>
          </a:p>
        </p:txBody>
      </p:sp>
      <p:sp>
        <p:nvSpPr>
          <p:cNvPr id="28" name="Shape 26"/>
          <p:cNvSpPr/>
          <p:nvPr/>
        </p:nvSpPr>
        <p:spPr>
          <a:xfrm>
            <a:off x="443484" y="3977640"/>
            <a:ext cx="2084832" cy="1051560"/>
          </a:xfrm>
          <a:prstGeom prst="roundRect">
            <a:avLst>
              <a:gd name="adj" fmla="val 5217"/>
            </a:avLst>
          </a:prstGeom>
          <a:solidFill>
            <a:srgbClr val="FBF3E3"/>
          </a:solidFill>
          <a:ln w="12700">
            <a:solidFill>
              <a:srgbClr val="D9D9D9"/>
            </a:solidFill>
            <a:prstDash val="solid"/>
          </a:ln>
        </p:spPr>
        <p:txBody>
          <a:bodyPr/>
          <a:lstStyle/>
          <a:p>
            <a:endParaRPr lang="en-IN"/>
          </a:p>
        </p:txBody>
      </p:sp>
      <p:sp>
        <p:nvSpPr>
          <p:cNvPr id="29" name="Shape 27"/>
          <p:cNvSpPr/>
          <p:nvPr/>
        </p:nvSpPr>
        <p:spPr>
          <a:xfrm>
            <a:off x="315468" y="3849624"/>
            <a:ext cx="292608" cy="292608"/>
          </a:xfrm>
          <a:prstGeom prst="ellipse">
            <a:avLst/>
          </a:prstGeom>
          <a:solidFill>
            <a:srgbClr val="1B2A4A"/>
          </a:solidFill>
          <a:ln w="15875">
            <a:solidFill>
              <a:srgbClr val="FFFFFF"/>
            </a:solidFill>
            <a:prstDash val="solid"/>
          </a:ln>
        </p:spPr>
        <p:txBody>
          <a:bodyPr/>
          <a:lstStyle/>
          <a:p>
            <a:endParaRPr lang="en-IN"/>
          </a:p>
        </p:txBody>
      </p:sp>
      <p:sp>
        <p:nvSpPr>
          <p:cNvPr id="30" name="Text 28"/>
          <p:cNvSpPr/>
          <p:nvPr/>
        </p:nvSpPr>
        <p:spPr>
          <a:xfrm>
            <a:off x="315468" y="384962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1" name="Text 29"/>
          <p:cNvSpPr/>
          <p:nvPr/>
        </p:nvSpPr>
        <p:spPr>
          <a:xfrm>
            <a:off x="534924" y="397764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Baum–Welch</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Learn π, A, B (Forward–Backward)</a:t>
            </a:r>
            <a:endParaRPr lang="en-US" sz="1050" dirty="0"/>
          </a:p>
        </p:txBody>
      </p:sp>
      <p:sp>
        <p:nvSpPr>
          <p:cNvPr id="32" name="Shape 30"/>
          <p:cNvSpPr/>
          <p:nvPr/>
        </p:nvSpPr>
        <p:spPr>
          <a:xfrm>
            <a:off x="2555748" y="4503420"/>
            <a:ext cx="164592" cy="0"/>
          </a:xfrm>
          <a:prstGeom prst="line">
            <a:avLst/>
          </a:prstGeom>
          <a:noFill/>
          <a:ln w="15875">
            <a:solidFill>
              <a:srgbClr val="6E6E6E"/>
            </a:solidFill>
            <a:prstDash val="solid"/>
            <a:tailEnd type="triangle"/>
          </a:ln>
        </p:spPr>
        <p:txBody>
          <a:bodyPr/>
          <a:lstStyle/>
          <a:p>
            <a:endParaRPr lang="en-IN"/>
          </a:p>
        </p:txBody>
      </p:sp>
      <p:sp>
        <p:nvSpPr>
          <p:cNvPr id="33" name="Shape 31"/>
          <p:cNvSpPr/>
          <p:nvPr/>
        </p:nvSpPr>
        <p:spPr>
          <a:xfrm>
            <a:off x="2747772" y="3977640"/>
            <a:ext cx="2084832" cy="1051560"/>
          </a:xfrm>
          <a:prstGeom prst="roundRect">
            <a:avLst>
              <a:gd name="adj" fmla="val 5217"/>
            </a:avLst>
          </a:prstGeom>
          <a:solidFill>
            <a:srgbClr val="FBF3E3"/>
          </a:solidFill>
          <a:ln w="12700">
            <a:solidFill>
              <a:srgbClr val="D9D9D9"/>
            </a:solidFill>
            <a:prstDash val="solid"/>
          </a:ln>
        </p:spPr>
        <p:txBody>
          <a:bodyPr/>
          <a:lstStyle/>
          <a:p>
            <a:endParaRPr lang="en-IN"/>
          </a:p>
        </p:txBody>
      </p:sp>
      <p:sp>
        <p:nvSpPr>
          <p:cNvPr id="34" name="Shape 32"/>
          <p:cNvSpPr/>
          <p:nvPr/>
        </p:nvSpPr>
        <p:spPr>
          <a:xfrm>
            <a:off x="2619756" y="3849624"/>
            <a:ext cx="292608" cy="292608"/>
          </a:xfrm>
          <a:prstGeom prst="ellipse">
            <a:avLst/>
          </a:prstGeom>
          <a:solidFill>
            <a:srgbClr val="1B2A4A"/>
          </a:solidFill>
          <a:ln w="15875">
            <a:solidFill>
              <a:srgbClr val="FFFFFF"/>
            </a:solidFill>
            <a:prstDash val="solid"/>
          </a:ln>
        </p:spPr>
        <p:txBody>
          <a:bodyPr/>
          <a:lstStyle/>
          <a:p>
            <a:endParaRPr lang="en-IN"/>
          </a:p>
        </p:txBody>
      </p:sp>
      <p:sp>
        <p:nvSpPr>
          <p:cNvPr id="35" name="Text 33"/>
          <p:cNvSpPr/>
          <p:nvPr/>
        </p:nvSpPr>
        <p:spPr>
          <a:xfrm>
            <a:off x="2619756" y="384962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36" name="Text 34"/>
          <p:cNvSpPr/>
          <p:nvPr/>
        </p:nvSpPr>
        <p:spPr>
          <a:xfrm>
            <a:off x="2839212" y="397764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Viterbi Decoding</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Most Probable Hidden-State Sequence</a:t>
            </a:r>
            <a:endParaRPr lang="en-US" sz="1050" dirty="0"/>
          </a:p>
        </p:txBody>
      </p:sp>
      <p:sp>
        <p:nvSpPr>
          <p:cNvPr id="37" name="Shape 35"/>
          <p:cNvSpPr/>
          <p:nvPr/>
        </p:nvSpPr>
        <p:spPr>
          <a:xfrm>
            <a:off x="4860036" y="4503420"/>
            <a:ext cx="164592" cy="0"/>
          </a:xfrm>
          <a:prstGeom prst="line">
            <a:avLst/>
          </a:prstGeom>
          <a:noFill/>
          <a:ln w="15875">
            <a:solidFill>
              <a:srgbClr val="6E6E6E"/>
            </a:solidFill>
            <a:prstDash val="solid"/>
            <a:tailEnd type="triangle"/>
          </a:ln>
        </p:spPr>
        <p:txBody>
          <a:bodyPr/>
          <a:lstStyle/>
          <a:p>
            <a:endParaRPr lang="en-IN"/>
          </a:p>
        </p:txBody>
      </p:sp>
      <p:sp>
        <p:nvSpPr>
          <p:cNvPr id="38" name="Shape 36"/>
          <p:cNvSpPr/>
          <p:nvPr/>
        </p:nvSpPr>
        <p:spPr>
          <a:xfrm>
            <a:off x="5052060" y="3977640"/>
            <a:ext cx="2084832" cy="1051560"/>
          </a:xfrm>
          <a:prstGeom prst="roundRect">
            <a:avLst>
              <a:gd name="adj" fmla="val 5217"/>
            </a:avLst>
          </a:prstGeom>
          <a:solidFill>
            <a:srgbClr val="F4F6FA"/>
          </a:solidFill>
          <a:ln w="12700">
            <a:solidFill>
              <a:srgbClr val="D9D9D9"/>
            </a:solidFill>
            <a:prstDash val="solid"/>
          </a:ln>
        </p:spPr>
        <p:txBody>
          <a:bodyPr/>
          <a:lstStyle/>
          <a:p>
            <a:endParaRPr lang="en-IN"/>
          </a:p>
        </p:txBody>
      </p:sp>
      <p:sp>
        <p:nvSpPr>
          <p:cNvPr id="39" name="Shape 37"/>
          <p:cNvSpPr/>
          <p:nvPr/>
        </p:nvSpPr>
        <p:spPr>
          <a:xfrm>
            <a:off x="4924044" y="3849624"/>
            <a:ext cx="292608" cy="292608"/>
          </a:xfrm>
          <a:prstGeom prst="ellipse">
            <a:avLst/>
          </a:prstGeom>
          <a:solidFill>
            <a:srgbClr val="1B2A4A"/>
          </a:solidFill>
          <a:ln w="15875">
            <a:solidFill>
              <a:srgbClr val="FFFFFF"/>
            </a:solidFill>
            <a:prstDash val="solid"/>
          </a:ln>
        </p:spPr>
        <p:txBody>
          <a:bodyPr/>
          <a:lstStyle/>
          <a:p>
            <a:endParaRPr lang="en-IN"/>
          </a:p>
        </p:txBody>
      </p:sp>
      <p:sp>
        <p:nvSpPr>
          <p:cNvPr id="40" name="Text 38"/>
          <p:cNvSpPr/>
          <p:nvPr/>
        </p:nvSpPr>
        <p:spPr>
          <a:xfrm>
            <a:off x="4924044" y="384962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8</a:t>
            </a:r>
            <a:endParaRPr lang="en-US" sz="1050" dirty="0"/>
          </a:p>
        </p:txBody>
      </p:sp>
      <p:sp>
        <p:nvSpPr>
          <p:cNvPr id="41" name="Text 39"/>
          <p:cNvSpPr/>
          <p:nvPr/>
        </p:nvSpPr>
        <p:spPr>
          <a:xfrm>
            <a:off x="5143500" y="397764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State Interpretation</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Map States → Bull / Sideways / Bear</a:t>
            </a:r>
            <a:endParaRPr lang="en-US" sz="1050" dirty="0"/>
          </a:p>
        </p:txBody>
      </p:sp>
      <p:sp>
        <p:nvSpPr>
          <p:cNvPr id="42" name="Shape 40"/>
          <p:cNvSpPr/>
          <p:nvPr/>
        </p:nvSpPr>
        <p:spPr>
          <a:xfrm>
            <a:off x="7164324" y="4503420"/>
            <a:ext cx="164592" cy="0"/>
          </a:xfrm>
          <a:prstGeom prst="line">
            <a:avLst/>
          </a:prstGeom>
          <a:noFill/>
          <a:ln w="15875">
            <a:solidFill>
              <a:srgbClr val="6E6E6E"/>
            </a:solidFill>
            <a:prstDash val="solid"/>
            <a:tailEnd type="triangle"/>
          </a:ln>
        </p:spPr>
        <p:txBody>
          <a:bodyPr/>
          <a:lstStyle/>
          <a:p>
            <a:endParaRPr lang="en-IN"/>
          </a:p>
        </p:txBody>
      </p:sp>
      <p:sp>
        <p:nvSpPr>
          <p:cNvPr id="43" name="Shape 41"/>
          <p:cNvSpPr/>
          <p:nvPr/>
        </p:nvSpPr>
        <p:spPr>
          <a:xfrm>
            <a:off x="7356348" y="3977640"/>
            <a:ext cx="2084832" cy="1051560"/>
          </a:xfrm>
          <a:prstGeom prst="roundRect">
            <a:avLst>
              <a:gd name="adj" fmla="val 5217"/>
            </a:avLst>
          </a:prstGeom>
          <a:solidFill>
            <a:srgbClr val="F4F6FA"/>
          </a:solidFill>
          <a:ln w="12700">
            <a:solidFill>
              <a:srgbClr val="D9D9D9"/>
            </a:solidFill>
            <a:prstDash val="solid"/>
          </a:ln>
        </p:spPr>
        <p:txBody>
          <a:bodyPr/>
          <a:lstStyle/>
          <a:p>
            <a:endParaRPr lang="en-IN"/>
          </a:p>
        </p:txBody>
      </p:sp>
      <p:sp>
        <p:nvSpPr>
          <p:cNvPr id="44" name="Shape 42"/>
          <p:cNvSpPr/>
          <p:nvPr/>
        </p:nvSpPr>
        <p:spPr>
          <a:xfrm>
            <a:off x="7228332" y="3849624"/>
            <a:ext cx="292608" cy="292608"/>
          </a:xfrm>
          <a:prstGeom prst="ellipse">
            <a:avLst/>
          </a:prstGeom>
          <a:solidFill>
            <a:srgbClr val="1B2A4A"/>
          </a:solidFill>
          <a:ln w="15875">
            <a:solidFill>
              <a:srgbClr val="FFFFFF"/>
            </a:solidFill>
            <a:prstDash val="solid"/>
          </a:ln>
        </p:spPr>
        <p:txBody>
          <a:bodyPr/>
          <a:lstStyle/>
          <a:p>
            <a:endParaRPr lang="en-IN"/>
          </a:p>
        </p:txBody>
      </p:sp>
      <p:sp>
        <p:nvSpPr>
          <p:cNvPr id="45" name="Text 43"/>
          <p:cNvSpPr/>
          <p:nvPr/>
        </p:nvSpPr>
        <p:spPr>
          <a:xfrm>
            <a:off x="7228332" y="3849624"/>
            <a:ext cx="292608" cy="292608"/>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9</a:t>
            </a:r>
            <a:endParaRPr lang="en-US" sz="1050" dirty="0"/>
          </a:p>
        </p:txBody>
      </p:sp>
      <p:sp>
        <p:nvSpPr>
          <p:cNvPr id="46" name="Text 44"/>
          <p:cNvSpPr/>
          <p:nvPr/>
        </p:nvSpPr>
        <p:spPr>
          <a:xfrm>
            <a:off x="7447788" y="397764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Financial Analysis</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Duration · Transitions · Forecasting</a:t>
            </a:r>
            <a:endParaRPr lang="en-US" sz="1050" dirty="0"/>
          </a:p>
        </p:txBody>
      </p:sp>
      <p:sp>
        <p:nvSpPr>
          <p:cNvPr id="47" name="Shape 45"/>
          <p:cNvSpPr/>
          <p:nvPr/>
        </p:nvSpPr>
        <p:spPr>
          <a:xfrm>
            <a:off x="9468612" y="4503420"/>
            <a:ext cx="164592" cy="0"/>
          </a:xfrm>
          <a:prstGeom prst="line">
            <a:avLst/>
          </a:prstGeom>
          <a:noFill/>
          <a:ln w="15875">
            <a:solidFill>
              <a:srgbClr val="6E6E6E"/>
            </a:solidFill>
            <a:prstDash val="solid"/>
            <a:tailEnd type="triangle"/>
          </a:ln>
        </p:spPr>
        <p:txBody>
          <a:bodyPr/>
          <a:lstStyle/>
          <a:p>
            <a:endParaRPr lang="en-IN"/>
          </a:p>
        </p:txBody>
      </p:sp>
      <p:sp>
        <p:nvSpPr>
          <p:cNvPr id="48" name="Shape 46"/>
          <p:cNvSpPr/>
          <p:nvPr/>
        </p:nvSpPr>
        <p:spPr>
          <a:xfrm>
            <a:off x="9660636" y="3977640"/>
            <a:ext cx="2084832" cy="1051560"/>
          </a:xfrm>
          <a:prstGeom prst="roundRect">
            <a:avLst>
              <a:gd name="adj" fmla="val 5217"/>
            </a:avLst>
          </a:prstGeom>
          <a:solidFill>
            <a:srgbClr val="F4F6FA"/>
          </a:solidFill>
          <a:ln w="12700">
            <a:solidFill>
              <a:srgbClr val="D9D9D9"/>
            </a:solidFill>
            <a:prstDash val="solid"/>
          </a:ln>
        </p:spPr>
        <p:txBody>
          <a:bodyPr/>
          <a:lstStyle/>
          <a:p>
            <a:endParaRPr lang="en-IN"/>
          </a:p>
        </p:txBody>
      </p:sp>
      <p:sp>
        <p:nvSpPr>
          <p:cNvPr id="49" name="Shape 47"/>
          <p:cNvSpPr/>
          <p:nvPr/>
        </p:nvSpPr>
        <p:spPr>
          <a:xfrm>
            <a:off x="9532620" y="3849624"/>
            <a:ext cx="347472" cy="347472"/>
          </a:xfrm>
          <a:prstGeom prst="ellipse">
            <a:avLst/>
          </a:prstGeom>
          <a:solidFill>
            <a:srgbClr val="1B2A4A"/>
          </a:solidFill>
          <a:ln w="15875">
            <a:solidFill>
              <a:srgbClr val="FFFFFF"/>
            </a:solidFill>
            <a:prstDash val="solid"/>
          </a:ln>
        </p:spPr>
        <p:txBody>
          <a:bodyPr/>
          <a:lstStyle/>
          <a:p>
            <a:endParaRPr lang="en-IN"/>
          </a:p>
        </p:txBody>
      </p:sp>
      <p:sp>
        <p:nvSpPr>
          <p:cNvPr id="50" name="Text 48"/>
          <p:cNvSpPr/>
          <p:nvPr/>
        </p:nvSpPr>
        <p:spPr>
          <a:xfrm>
            <a:off x="9532620" y="3849624"/>
            <a:ext cx="347472" cy="347472"/>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10</a:t>
            </a:r>
            <a:endParaRPr lang="en-US" sz="1050" dirty="0"/>
          </a:p>
        </p:txBody>
      </p:sp>
      <p:sp>
        <p:nvSpPr>
          <p:cNvPr id="51" name="Text 49"/>
          <p:cNvSpPr/>
          <p:nvPr/>
        </p:nvSpPr>
        <p:spPr>
          <a:xfrm>
            <a:off x="9752076" y="3977640"/>
            <a:ext cx="1901952" cy="1051560"/>
          </a:xfrm>
          <a:prstGeom prst="rect">
            <a:avLst/>
          </a:prstGeom>
          <a:noFill/>
          <a:ln/>
        </p:spPr>
        <p:txBody>
          <a:bodyPr wrap="square" rtlCol="0" anchor="ctr"/>
          <a:lstStyle/>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Evaluation &amp; Dashboard</a:t>
            </a:r>
            <a:endParaRPr lang="en-US" sz="1050" dirty="0"/>
          </a:p>
          <a:p>
            <a:pPr marL="0" indent="0" algn="ctr">
              <a:lnSpc>
                <a:spcPct val="112000"/>
              </a:lnSpc>
              <a:buNone/>
            </a:pPr>
            <a:r>
              <a:rPr lang="en-US" sz="1050" dirty="0">
                <a:solidFill>
                  <a:srgbClr val="1B2A4A"/>
                </a:solidFill>
                <a:latin typeface="Calibri" pitchFamily="34" charset="0"/>
                <a:ea typeface="Calibri" pitchFamily="34" charset="-122"/>
                <a:cs typeface="Calibri" pitchFamily="34" charset="-120"/>
              </a:rPr>
              <a:t>Log-Likelihood · AIC/BIC · Visualisation</a:t>
            </a:r>
            <a:endParaRPr lang="en-US" sz="1050" dirty="0"/>
          </a:p>
        </p:txBody>
      </p:sp>
      <p:sp>
        <p:nvSpPr>
          <p:cNvPr id="52" name="Shape 50"/>
          <p:cNvSpPr/>
          <p:nvPr/>
        </p:nvSpPr>
        <p:spPr>
          <a:xfrm>
            <a:off x="10703052" y="3017520"/>
            <a:ext cx="0" cy="461772"/>
          </a:xfrm>
          <a:prstGeom prst="line">
            <a:avLst/>
          </a:prstGeom>
          <a:noFill/>
          <a:ln w="15875">
            <a:solidFill>
              <a:srgbClr val="6E6E6E"/>
            </a:solidFill>
            <a:prstDash val="solid"/>
          </a:ln>
        </p:spPr>
        <p:txBody>
          <a:bodyPr/>
          <a:lstStyle/>
          <a:p>
            <a:endParaRPr lang="en-IN"/>
          </a:p>
        </p:txBody>
      </p:sp>
      <p:sp>
        <p:nvSpPr>
          <p:cNvPr id="53" name="Shape 51"/>
          <p:cNvSpPr/>
          <p:nvPr/>
        </p:nvSpPr>
        <p:spPr>
          <a:xfrm>
            <a:off x="1485900" y="3497580"/>
            <a:ext cx="9217152" cy="0"/>
          </a:xfrm>
          <a:prstGeom prst="line">
            <a:avLst/>
          </a:prstGeom>
          <a:noFill/>
          <a:ln w="15875">
            <a:solidFill>
              <a:srgbClr val="6E6E6E"/>
            </a:solidFill>
            <a:prstDash val="solid"/>
          </a:ln>
        </p:spPr>
        <p:txBody>
          <a:bodyPr/>
          <a:lstStyle/>
          <a:p>
            <a:endParaRPr lang="en-IN"/>
          </a:p>
        </p:txBody>
      </p:sp>
      <p:sp>
        <p:nvSpPr>
          <p:cNvPr id="54" name="Shape 52"/>
          <p:cNvSpPr/>
          <p:nvPr/>
        </p:nvSpPr>
        <p:spPr>
          <a:xfrm>
            <a:off x="1485900" y="3497580"/>
            <a:ext cx="0" cy="534924"/>
          </a:xfrm>
          <a:prstGeom prst="line">
            <a:avLst/>
          </a:prstGeom>
          <a:noFill/>
          <a:ln w="15875">
            <a:solidFill>
              <a:srgbClr val="6E6E6E"/>
            </a:solidFill>
            <a:prstDash val="solid"/>
            <a:tailEnd type="triangle"/>
          </a:ln>
        </p:spPr>
        <p:txBody>
          <a:bodyPr/>
          <a:lstStyle/>
          <a:p>
            <a:endParaRPr lang="en-IN"/>
          </a:p>
        </p:txBody>
      </p:sp>
      <p:sp>
        <p:nvSpPr>
          <p:cNvPr id="55" name="Shape 53"/>
          <p:cNvSpPr/>
          <p:nvPr/>
        </p:nvSpPr>
        <p:spPr>
          <a:xfrm>
            <a:off x="548640" y="5806440"/>
            <a:ext cx="256032" cy="201168"/>
          </a:xfrm>
          <a:prstGeom prst="roundRect">
            <a:avLst>
              <a:gd name="adj" fmla="val 18182"/>
            </a:avLst>
          </a:prstGeom>
          <a:solidFill>
            <a:srgbClr val="EAF2EC"/>
          </a:solidFill>
          <a:ln w="12700">
            <a:solidFill>
              <a:srgbClr val="3E7A4E"/>
            </a:solidFill>
            <a:prstDash val="solid"/>
          </a:ln>
        </p:spPr>
        <p:txBody>
          <a:bodyPr/>
          <a:lstStyle/>
          <a:p>
            <a:endParaRPr lang="en-IN"/>
          </a:p>
        </p:txBody>
      </p:sp>
      <p:sp>
        <p:nvSpPr>
          <p:cNvPr id="56" name="Text 54"/>
          <p:cNvSpPr/>
          <p:nvPr/>
        </p:nvSpPr>
        <p:spPr>
          <a:xfrm>
            <a:off x="868680" y="5760720"/>
            <a:ext cx="1280160" cy="292608"/>
          </a:xfrm>
          <a:prstGeom prst="rect">
            <a:avLst/>
          </a:prstGeom>
          <a:noFill/>
          <a:ln/>
        </p:spPr>
        <p:txBody>
          <a:bodyPr wrap="square" rtlCol="0" anchor="ctr"/>
          <a:lstStyle/>
          <a:p>
            <a:pPr marL="0" indent="0">
              <a:buNone/>
            </a:pPr>
            <a:r>
              <a:rPr lang="en-US" sz="1050" dirty="0">
                <a:solidFill>
                  <a:srgbClr val="3D3D3D"/>
                </a:solidFill>
                <a:latin typeface="Calibri" pitchFamily="34" charset="0"/>
                <a:ea typeface="Calibri" pitchFamily="34" charset="-122"/>
                <a:cs typeface="Calibri" pitchFamily="34" charset="-120"/>
              </a:rPr>
              <a:t>Completed</a:t>
            </a:r>
            <a:endParaRPr lang="en-US" sz="1050" dirty="0"/>
          </a:p>
        </p:txBody>
      </p:sp>
      <p:sp>
        <p:nvSpPr>
          <p:cNvPr id="57" name="Shape 55"/>
          <p:cNvSpPr/>
          <p:nvPr/>
        </p:nvSpPr>
        <p:spPr>
          <a:xfrm>
            <a:off x="2148840" y="5806440"/>
            <a:ext cx="256032" cy="201168"/>
          </a:xfrm>
          <a:prstGeom prst="roundRect">
            <a:avLst>
              <a:gd name="adj" fmla="val 18182"/>
            </a:avLst>
          </a:prstGeom>
          <a:solidFill>
            <a:srgbClr val="FBF3E3"/>
          </a:solidFill>
          <a:ln w="12700">
            <a:solidFill>
              <a:srgbClr val="9C7A2E"/>
            </a:solidFill>
            <a:prstDash val="solid"/>
          </a:ln>
        </p:spPr>
        <p:txBody>
          <a:bodyPr/>
          <a:lstStyle/>
          <a:p>
            <a:endParaRPr lang="en-IN"/>
          </a:p>
        </p:txBody>
      </p:sp>
      <p:sp>
        <p:nvSpPr>
          <p:cNvPr id="58" name="Text 56"/>
          <p:cNvSpPr/>
          <p:nvPr/>
        </p:nvSpPr>
        <p:spPr>
          <a:xfrm>
            <a:off x="2468880" y="5760720"/>
            <a:ext cx="1280160" cy="292608"/>
          </a:xfrm>
          <a:prstGeom prst="rect">
            <a:avLst/>
          </a:prstGeom>
          <a:noFill/>
          <a:ln/>
        </p:spPr>
        <p:txBody>
          <a:bodyPr wrap="square" rtlCol="0" anchor="ctr"/>
          <a:lstStyle/>
          <a:p>
            <a:pPr marL="0" indent="0">
              <a:buNone/>
            </a:pPr>
            <a:r>
              <a:rPr lang="en-US" sz="1050" dirty="0">
                <a:solidFill>
                  <a:srgbClr val="3D3D3D"/>
                </a:solidFill>
                <a:latin typeface="Calibri" pitchFamily="34" charset="0"/>
                <a:ea typeface="Calibri" pitchFamily="34" charset="-122"/>
                <a:cs typeface="Calibri" pitchFamily="34" charset="-120"/>
              </a:rPr>
              <a:t>In Progress</a:t>
            </a:r>
            <a:endParaRPr lang="en-US" sz="1050" dirty="0"/>
          </a:p>
        </p:txBody>
      </p:sp>
      <p:sp>
        <p:nvSpPr>
          <p:cNvPr id="59" name="Shape 57"/>
          <p:cNvSpPr/>
          <p:nvPr/>
        </p:nvSpPr>
        <p:spPr>
          <a:xfrm>
            <a:off x="3749040" y="5806440"/>
            <a:ext cx="256032" cy="201168"/>
          </a:xfrm>
          <a:prstGeom prst="roundRect">
            <a:avLst>
              <a:gd name="adj" fmla="val 18182"/>
            </a:avLst>
          </a:prstGeom>
          <a:solidFill>
            <a:srgbClr val="F4F6FA"/>
          </a:solidFill>
          <a:ln w="12700">
            <a:solidFill>
              <a:srgbClr val="D9D9D9"/>
            </a:solidFill>
            <a:prstDash val="solid"/>
          </a:ln>
        </p:spPr>
        <p:txBody>
          <a:bodyPr/>
          <a:lstStyle/>
          <a:p>
            <a:endParaRPr lang="en-IN"/>
          </a:p>
        </p:txBody>
      </p:sp>
      <p:sp>
        <p:nvSpPr>
          <p:cNvPr id="60" name="Text 58"/>
          <p:cNvSpPr/>
          <p:nvPr/>
        </p:nvSpPr>
        <p:spPr>
          <a:xfrm>
            <a:off x="4069080" y="5760720"/>
            <a:ext cx="2283594" cy="292608"/>
          </a:xfrm>
          <a:prstGeom prst="rect">
            <a:avLst/>
          </a:prstGeom>
          <a:noFill/>
          <a:ln/>
        </p:spPr>
        <p:txBody>
          <a:bodyPr wrap="square" rtlCol="0" anchor="ctr"/>
          <a:lstStyle/>
          <a:p>
            <a:pPr marL="0" indent="0">
              <a:buNone/>
            </a:pPr>
            <a:r>
              <a:rPr lang="en-US" sz="1050" dirty="0">
                <a:solidFill>
                  <a:srgbClr val="3D3D3D"/>
                </a:solidFill>
                <a:latin typeface="Calibri" pitchFamily="34" charset="0"/>
                <a:ea typeface="Calibri" pitchFamily="34" charset="-122"/>
                <a:cs typeface="Calibri" pitchFamily="34" charset="-120"/>
              </a:rPr>
              <a:t>For next review-code implementation</a:t>
            </a:r>
            <a:endParaRPr lang="en-US" sz="1050" dirty="0"/>
          </a:p>
        </p:txBody>
      </p:sp>
      <p:sp>
        <p:nvSpPr>
          <p:cNvPr id="61" name="Text 59"/>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62" name="Text 60"/>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Implementation Plan &amp; Current Progress</a:t>
            </a:r>
            <a:endParaRPr lang="en-US" sz="2800" dirty="0"/>
          </a:p>
        </p:txBody>
      </p:sp>
      <p:sp>
        <p:nvSpPr>
          <p:cNvPr id="4" name="Shape 2"/>
          <p:cNvSpPr/>
          <p:nvPr/>
        </p:nvSpPr>
        <p:spPr>
          <a:xfrm>
            <a:off x="548640" y="1472184"/>
            <a:ext cx="292608" cy="292608"/>
          </a:xfrm>
          <a:prstGeom prst="ellipse">
            <a:avLst/>
          </a:prstGeom>
          <a:solidFill>
            <a:srgbClr val="3E7A4E"/>
          </a:solidFill>
          <a:ln w="19050">
            <a:solidFill>
              <a:srgbClr val="3E7A4E"/>
            </a:solidFill>
            <a:prstDash val="solid"/>
          </a:ln>
        </p:spPr>
        <p:txBody>
          <a:bodyPr/>
          <a:lstStyle/>
          <a:p>
            <a:endParaRPr lang="en-IN"/>
          </a:p>
        </p:txBody>
      </p:sp>
      <p:sp>
        <p:nvSpPr>
          <p:cNvPr id="5" name="Text 3"/>
          <p:cNvSpPr/>
          <p:nvPr/>
        </p:nvSpPr>
        <p:spPr>
          <a:xfrm>
            <a:off x="548640" y="1472184"/>
            <a:ext cx="292608" cy="29260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6" name="Text 4"/>
          <p:cNvSpPr/>
          <p:nvPr/>
        </p:nvSpPr>
        <p:spPr>
          <a:xfrm>
            <a:off x="1051560" y="1417320"/>
            <a:ext cx="2834640" cy="443484"/>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Data Acquisition</a:t>
            </a:r>
            <a:endParaRPr lang="en-US" sz="1200" dirty="0"/>
          </a:p>
        </p:txBody>
      </p:sp>
      <p:sp>
        <p:nvSpPr>
          <p:cNvPr id="7" name="Text 5"/>
          <p:cNvSpPr/>
          <p:nvPr/>
        </p:nvSpPr>
        <p:spPr>
          <a:xfrm>
            <a:off x="3977640" y="1417320"/>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Clean, sorted OHLCV time-series for S&amp;P 500</a:t>
            </a:r>
            <a:endParaRPr lang="en-US" sz="1100" dirty="0"/>
          </a:p>
        </p:txBody>
      </p:sp>
      <p:sp>
        <p:nvSpPr>
          <p:cNvPr id="8" name="Text 6"/>
          <p:cNvSpPr/>
          <p:nvPr/>
        </p:nvSpPr>
        <p:spPr>
          <a:xfrm>
            <a:off x="10268712" y="1417320"/>
            <a:ext cx="1371600" cy="443484"/>
          </a:xfrm>
          <a:prstGeom prst="rect">
            <a:avLst/>
          </a:prstGeom>
          <a:noFill/>
          <a:ln/>
        </p:spPr>
        <p:txBody>
          <a:bodyPr wrap="square" rtlCol="0" anchor="ctr"/>
          <a:lstStyle/>
          <a:p>
            <a:pPr marL="0" indent="0" algn="r">
              <a:buNone/>
            </a:pPr>
            <a:r>
              <a:rPr lang="en-US" sz="950" b="1" kern="0" spc="50" dirty="0">
                <a:solidFill>
                  <a:srgbClr val="3E7A4E"/>
                </a:solidFill>
                <a:latin typeface="Calibri" pitchFamily="34" charset="0"/>
                <a:ea typeface="Calibri" pitchFamily="34" charset="-122"/>
                <a:cs typeface="Calibri" pitchFamily="34" charset="-120"/>
              </a:rPr>
              <a:t>COMPLETE</a:t>
            </a:r>
            <a:endParaRPr lang="en-US" sz="950" dirty="0"/>
          </a:p>
        </p:txBody>
      </p:sp>
      <p:sp>
        <p:nvSpPr>
          <p:cNvPr id="9" name="Shape 7"/>
          <p:cNvSpPr/>
          <p:nvPr/>
        </p:nvSpPr>
        <p:spPr>
          <a:xfrm>
            <a:off x="548640" y="1915668"/>
            <a:ext cx="292608" cy="292608"/>
          </a:xfrm>
          <a:prstGeom prst="ellipse">
            <a:avLst/>
          </a:prstGeom>
          <a:solidFill>
            <a:srgbClr val="3E7A4E"/>
          </a:solidFill>
          <a:ln w="19050">
            <a:solidFill>
              <a:srgbClr val="3E7A4E"/>
            </a:solidFill>
            <a:prstDash val="solid"/>
          </a:ln>
        </p:spPr>
        <p:txBody>
          <a:bodyPr/>
          <a:lstStyle/>
          <a:p>
            <a:endParaRPr lang="en-IN"/>
          </a:p>
        </p:txBody>
      </p:sp>
      <p:sp>
        <p:nvSpPr>
          <p:cNvPr id="10" name="Text 8"/>
          <p:cNvSpPr/>
          <p:nvPr/>
        </p:nvSpPr>
        <p:spPr>
          <a:xfrm>
            <a:off x="548640" y="1915668"/>
            <a:ext cx="292608" cy="29260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1051560" y="1860804"/>
            <a:ext cx="2834640" cy="443484"/>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Exploratory Analysis</a:t>
            </a:r>
            <a:endParaRPr lang="en-US" sz="1200" dirty="0"/>
          </a:p>
        </p:txBody>
      </p:sp>
      <p:sp>
        <p:nvSpPr>
          <p:cNvPr id="12" name="Text 10"/>
          <p:cNvSpPr/>
          <p:nvPr/>
        </p:nvSpPr>
        <p:spPr>
          <a:xfrm>
            <a:off x="3977640" y="1860804"/>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Distinct behavioural periods confirmed via plots</a:t>
            </a:r>
            <a:endParaRPr lang="en-US" sz="1100" dirty="0"/>
          </a:p>
        </p:txBody>
      </p:sp>
      <p:sp>
        <p:nvSpPr>
          <p:cNvPr id="13" name="Text 11"/>
          <p:cNvSpPr/>
          <p:nvPr/>
        </p:nvSpPr>
        <p:spPr>
          <a:xfrm>
            <a:off x="10268712" y="1860804"/>
            <a:ext cx="1371600" cy="443484"/>
          </a:xfrm>
          <a:prstGeom prst="rect">
            <a:avLst/>
          </a:prstGeom>
          <a:noFill/>
          <a:ln/>
        </p:spPr>
        <p:txBody>
          <a:bodyPr wrap="square" rtlCol="0" anchor="ctr"/>
          <a:lstStyle/>
          <a:p>
            <a:pPr marL="0" indent="0" algn="r">
              <a:buNone/>
            </a:pPr>
            <a:r>
              <a:rPr lang="en-US" sz="950" b="1" kern="0" spc="50" dirty="0">
                <a:solidFill>
                  <a:srgbClr val="3E7A4E"/>
                </a:solidFill>
                <a:latin typeface="Calibri" pitchFamily="34" charset="0"/>
                <a:ea typeface="Calibri" pitchFamily="34" charset="-122"/>
                <a:cs typeface="Calibri" pitchFamily="34" charset="-120"/>
              </a:rPr>
              <a:t>COMPLETE</a:t>
            </a:r>
            <a:endParaRPr lang="en-US" sz="950" dirty="0"/>
          </a:p>
        </p:txBody>
      </p:sp>
      <p:sp>
        <p:nvSpPr>
          <p:cNvPr id="14" name="Shape 12"/>
          <p:cNvSpPr/>
          <p:nvPr/>
        </p:nvSpPr>
        <p:spPr>
          <a:xfrm>
            <a:off x="548640" y="2359152"/>
            <a:ext cx="292608" cy="292608"/>
          </a:xfrm>
          <a:prstGeom prst="ellipse">
            <a:avLst/>
          </a:prstGeom>
          <a:solidFill>
            <a:srgbClr val="3E7A4E"/>
          </a:solidFill>
          <a:ln w="19050">
            <a:solidFill>
              <a:srgbClr val="3E7A4E"/>
            </a:solidFill>
            <a:prstDash val="solid"/>
          </a:ln>
        </p:spPr>
        <p:txBody>
          <a:bodyPr/>
          <a:lstStyle/>
          <a:p>
            <a:endParaRPr lang="en-IN"/>
          </a:p>
        </p:txBody>
      </p:sp>
      <p:sp>
        <p:nvSpPr>
          <p:cNvPr id="15" name="Text 13"/>
          <p:cNvSpPr/>
          <p:nvPr/>
        </p:nvSpPr>
        <p:spPr>
          <a:xfrm>
            <a:off x="548640" y="2359152"/>
            <a:ext cx="292608" cy="29260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1051560" y="2304288"/>
            <a:ext cx="2834640" cy="443484"/>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Preprocessing</a:t>
            </a:r>
            <a:endParaRPr lang="en-US" sz="1200" dirty="0"/>
          </a:p>
        </p:txBody>
      </p:sp>
      <p:sp>
        <p:nvSpPr>
          <p:cNvPr id="17" name="Text 15"/>
          <p:cNvSpPr/>
          <p:nvPr/>
        </p:nvSpPr>
        <p:spPr>
          <a:xfrm>
            <a:off x="3977640" y="2304288"/>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Feature computation + standardisation → observation matrix</a:t>
            </a:r>
            <a:endParaRPr lang="en-US" sz="1100" dirty="0"/>
          </a:p>
        </p:txBody>
      </p:sp>
      <p:sp>
        <p:nvSpPr>
          <p:cNvPr id="18" name="Text 16"/>
          <p:cNvSpPr/>
          <p:nvPr/>
        </p:nvSpPr>
        <p:spPr>
          <a:xfrm>
            <a:off x="10268712" y="2304288"/>
            <a:ext cx="1371600" cy="443484"/>
          </a:xfrm>
          <a:prstGeom prst="rect">
            <a:avLst/>
          </a:prstGeom>
          <a:noFill/>
          <a:ln/>
        </p:spPr>
        <p:txBody>
          <a:bodyPr wrap="square" rtlCol="0" anchor="ctr"/>
          <a:lstStyle/>
          <a:p>
            <a:pPr marL="0" indent="0" algn="r">
              <a:buNone/>
            </a:pPr>
            <a:r>
              <a:rPr lang="en-US" sz="950" b="1" kern="0" spc="50" dirty="0">
                <a:solidFill>
                  <a:srgbClr val="3E7A4E"/>
                </a:solidFill>
                <a:latin typeface="Calibri" pitchFamily="34" charset="0"/>
                <a:ea typeface="Calibri" pitchFamily="34" charset="-122"/>
                <a:cs typeface="Calibri" pitchFamily="34" charset="-120"/>
              </a:rPr>
              <a:t>COMPLETE</a:t>
            </a:r>
            <a:endParaRPr lang="en-US" sz="950" dirty="0"/>
          </a:p>
        </p:txBody>
      </p:sp>
      <p:sp>
        <p:nvSpPr>
          <p:cNvPr id="19" name="Shape 17"/>
          <p:cNvSpPr/>
          <p:nvPr/>
        </p:nvSpPr>
        <p:spPr>
          <a:xfrm>
            <a:off x="548640" y="2802636"/>
            <a:ext cx="292608" cy="292608"/>
          </a:xfrm>
          <a:prstGeom prst="ellipse">
            <a:avLst/>
          </a:prstGeom>
          <a:solidFill>
            <a:srgbClr val="FFFFFF"/>
          </a:solidFill>
          <a:ln w="19050">
            <a:solidFill>
              <a:srgbClr val="D9D9D9"/>
            </a:solidFill>
            <a:prstDash val="solid"/>
          </a:ln>
        </p:spPr>
        <p:txBody>
          <a:bodyPr/>
          <a:lstStyle/>
          <a:p>
            <a:endParaRPr lang="en-IN"/>
          </a:p>
        </p:txBody>
      </p:sp>
      <p:sp>
        <p:nvSpPr>
          <p:cNvPr id="20" name="Text 18"/>
          <p:cNvSpPr/>
          <p:nvPr/>
        </p:nvSpPr>
        <p:spPr>
          <a:xfrm>
            <a:off x="548640" y="2802636"/>
            <a:ext cx="292608" cy="292608"/>
          </a:xfrm>
          <a:prstGeom prst="rect">
            <a:avLst/>
          </a:prstGeom>
          <a:noFill/>
          <a:ln/>
        </p:spPr>
        <p:txBody>
          <a:bodyPr wrap="none" rtlCol="0" anchor="ctr"/>
          <a:lstStyle/>
          <a:p>
            <a:pPr marL="0" indent="0" algn="ctr">
              <a:buNone/>
            </a:pPr>
            <a:r>
              <a:rPr lang="en-US" sz="950" b="1" dirty="0">
                <a:solidFill>
                  <a:srgbClr val="6E6E6E"/>
                </a:solidFill>
                <a:latin typeface="Calibri" pitchFamily="34" charset="0"/>
                <a:ea typeface="Calibri" pitchFamily="34" charset="-122"/>
                <a:cs typeface="Calibri" pitchFamily="34" charset="-120"/>
              </a:rPr>
              <a:t>4</a:t>
            </a:r>
            <a:endParaRPr lang="en-US" sz="950" dirty="0"/>
          </a:p>
        </p:txBody>
      </p:sp>
      <p:sp>
        <p:nvSpPr>
          <p:cNvPr id="21" name="Text 19"/>
          <p:cNvSpPr/>
          <p:nvPr/>
        </p:nvSpPr>
        <p:spPr>
          <a:xfrm>
            <a:off x="1051560" y="2747772"/>
            <a:ext cx="2834640" cy="443484"/>
          </a:xfrm>
          <a:prstGeom prst="rect">
            <a:avLst/>
          </a:prstGeom>
          <a:noFill/>
          <a:ln/>
        </p:spPr>
        <p:txBody>
          <a:bodyPr wrap="square" rtlCol="0" anchor="ctr"/>
          <a:lstStyle/>
          <a:p>
            <a:pPr marL="0" indent="0">
              <a:buNone/>
            </a:pPr>
            <a:r>
              <a:rPr lang="en-US" sz="1200" b="1" dirty="0">
                <a:solidFill>
                  <a:srgbClr val="3D3D3D"/>
                </a:solidFill>
                <a:latin typeface="Calibri" pitchFamily="34" charset="0"/>
                <a:ea typeface="Calibri" pitchFamily="34" charset="-122"/>
                <a:cs typeface="Calibri" pitchFamily="34" charset="-120"/>
              </a:rPr>
              <a:t>Model Initialisation</a:t>
            </a:r>
            <a:endParaRPr lang="en-US" sz="1200" dirty="0"/>
          </a:p>
        </p:txBody>
      </p:sp>
      <p:sp>
        <p:nvSpPr>
          <p:cNvPr id="22" name="Text 20"/>
          <p:cNvSpPr/>
          <p:nvPr/>
        </p:nvSpPr>
        <p:spPr>
          <a:xfrm>
            <a:off x="3977640" y="2747772"/>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Select k = 3 states; initialise π, A, μ, Σ</a:t>
            </a:r>
            <a:endParaRPr lang="en-US" sz="1100" dirty="0"/>
          </a:p>
        </p:txBody>
      </p:sp>
      <p:sp>
        <p:nvSpPr>
          <p:cNvPr id="23" name="Text 21"/>
          <p:cNvSpPr/>
          <p:nvPr/>
        </p:nvSpPr>
        <p:spPr>
          <a:xfrm>
            <a:off x="10268712" y="2747772"/>
            <a:ext cx="1371600" cy="443484"/>
          </a:xfrm>
          <a:prstGeom prst="rect">
            <a:avLst/>
          </a:prstGeom>
          <a:noFill/>
          <a:ln/>
        </p:spPr>
        <p:txBody>
          <a:bodyPr wrap="square" rtlCol="0" anchor="ctr"/>
          <a:lstStyle/>
          <a:p>
            <a:pPr marL="0" indent="0" algn="r">
              <a:buNone/>
            </a:pPr>
            <a:r>
              <a:rPr lang="en-US" sz="950" b="1" kern="0" spc="50" dirty="0">
                <a:solidFill>
                  <a:srgbClr val="9C7A2E"/>
                </a:solidFill>
                <a:latin typeface="Calibri" pitchFamily="34" charset="0"/>
                <a:ea typeface="Calibri" pitchFamily="34" charset="-122"/>
                <a:cs typeface="Calibri" pitchFamily="34" charset="-120"/>
              </a:rPr>
              <a:t>PENDING</a:t>
            </a:r>
            <a:endParaRPr lang="en-US" sz="950" dirty="0"/>
          </a:p>
        </p:txBody>
      </p:sp>
      <p:sp>
        <p:nvSpPr>
          <p:cNvPr id="24" name="Shape 22"/>
          <p:cNvSpPr/>
          <p:nvPr/>
        </p:nvSpPr>
        <p:spPr>
          <a:xfrm>
            <a:off x="548640" y="3246120"/>
            <a:ext cx="292608" cy="292608"/>
          </a:xfrm>
          <a:prstGeom prst="ellipse">
            <a:avLst/>
          </a:prstGeom>
          <a:solidFill>
            <a:srgbClr val="FFFFFF"/>
          </a:solidFill>
          <a:ln w="19050">
            <a:solidFill>
              <a:srgbClr val="D9D9D9"/>
            </a:solidFill>
            <a:prstDash val="solid"/>
          </a:ln>
        </p:spPr>
        <p:txBody>
          <a:bodyPr/>
          <a:lstStyle/>
          <a:p>
            <a:endParaRPr lang="en-IN"/>
          </a:p>
        </p:txBody>
      </p:sp>
      <p:sp>
        <p:nvSpPr>
          <p:cNvPr id="25" name="Text 23"/>
          <p:cNvSpPr/>
          <p:nvPr/>
        </p:nvSpPr>
        <p:spPr>
          <a:xfrm>
            <a:off x="548640" y="3246120"/>
            <a:ext cx="292608" cy="292608"/>
          </a:xfrm>
          <a:prstGeom prst="rect">
            <a:avLst/>
          </a:prstGeom>
          <a:noFill/>
          <a:ln/>
        </p:spPr>
        <p:txBody>
          <a:bodyPr wrap="none" rtlCol="0" anchor="ctr"/>
          <a:lstStyle/>
          <a:p>
            <a:pPr marL="0" indent="0" algn="ctr">
              <a:buNone/>
            </a:pPr>
            <a:r>
              <a:rPr lang="en-US" sz="950" b="1" dirty="0">
                <a:solidFill>
                  <a:srgbClr val="6E6E6E"/>
                </a:solidFill>
                <a:latin typeface="Calibri" pitchFamily="34" charset="0"/>
                <a:ea typeface="Calibri" pitchFamily="34" charset="-122"/>
                <a:cs typeface="Calibri" pitchFamily="34" charset="-120"/>
              </a:rPr>
              <a:t>5</a:t>
            </a:r>
            <a:endParaRPr lang="en-US" sz="950" dirty="0"/>
          </a:p>
        </p:txBody>
      </p:sp>
      <p:sp>
        <p:nvSpPr>
          <p:cNvPr id="26" name="Text 24"/>
          <p:cNvSpPr/>
          <p:nvPr/>
        </p:nvSpPr>
        <p:spPr>
          <a:xfrm>
            <a:off x="1051560" y="3191256"/>
            <a:ext cx="2834640" cy="443484"/>
          </a:xfrm>
          <a:prstGeom prst="rect">
            <a:avLst/>
          </a:prstGeom>
          <a:noFill/>
          <a:ln/>
        </p:spPr>
        <p:txBody>
          <a:bodyPr wrap="square" rtlCol="0" anchor="ctr"/>
          <a:lstStyle/>
          <a:p>
            <a:pPr marL="0" indent="0">
              <a:buNone/>
            </a:pPr>
            <a:r>
              <a:rPr lang="en-US" sz="1200" b="1" dirty="0">
                <a:solidFill>
                  <a:srgbClr val="3D3D3D"/>
                </a:solidFill>
                <a:latin typeface="Calibri" pitchFamily="34" charset="0"/>
                <a:ea typeface="Calibri" pitchFamily="34" charset="-122"/>
                <a:cs typeface="Calibri" pitchFamily="34" charset="-120"/>
              </a:rPr>
              <a:t>Baum–Welch Training</a:t>
            </a:r>
            <a:endParaRPr lang="en-US" sz="1200" dirty="0"/>
          </a:p>
        </p:txBody>
      </p:sp>
      <p:sp>
        <p:nvSpPr>
          <p:cNvPr id="27" name="Text 25"/>
          <p:cNvSpPr/>
          <p:nvPr/>
        </p:nvSpPr>
        <p:spPr>
          <a:xfrm>
            <a:off x="3977640" y="3191256"/>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Iterate Forward–Backward + re-estimation to convergence</a:t>
            </a:r>
            <a:endParaRPr lang="en-US" sz="1100" dirty="0"/>
          </a:p>
        </p:txBody>
      </p:sp>
      <p:sp>
        <p:nvSpPr>
          <p:cNvPr id="28" name="Text 26"/>
          <p:cNvSpPr/>
          <p:nvPr/>
        </p:nvSpPr>
        <p:spPr>
          <a:xfrm>
            <a:off x="10268712" y="3191256"/>
            <a:ext cx="1371600" cy="443484"/>
          </a:xfrm>
          <a:prstGeom prst="rect">
            <a:avLst/>
          </a:prstGeom>
          <a:noFill/>
          <a:ln/>
        </p:spPr>
        <p:txBody>
          <a:bodyPr wrap="square" rtlCol="0" anchor="ctr"/>
          <a:lstStyle/>
          <a:p>
            <a:pPr marL="0" indent="0" algn="r">
              <a:buNone/>
            </a:pPr>
            <a:r>
              <a:rPr lang="en-US" sz="950" b="1" kern="0" spc="50" dirty="0">
                <a:solidFill>
                  <a:srgbClr val="9C7A2E"/>
                </a:solidFill>
                <a:latin typeface="Calibri" pitchFamily="34" charset="0"/>
                <a:ea typeface="Calibri" pitchFamily="34" charset="-122"/>
                <a:cs typeface="Calibri" pitchFamily="34" charset="-120"/>
              </a:rPr>
              <a:t>PENDING</a:t>
            </a:r>
            <a:endParaRPr lang="en-US" sz="950" dirty="0"/>
          </a:p>
        </p:txBody>
      </p:sp>
      <p:sp>
        <p:nvSpPr>
          <p:cNvPr id="29" name="Shape 27"/>
          <p:cNvSpPr/>
          <p:nvPr/>
        </p:nvSpPr>
        <p:spPr>
          <a:xfrm>
            <a:off x="548640" y="3689604"/>
            <a:ext cx="292608" cy="292608"/>
          </a:xfrm>
          <a:prstGeom prst="ellipse">
            <a:avLst/>
          </a:prstGeom>
          <a:solidFill>
            <a:srgbClr val="FFFFFF"/>
          </a:solidFill>
          <a:ln w="19050">
            <a:solidFill>
              <a:srgbClr val="D9D9D9"/>
            </a:solidFill>
            <a:prstDash val="solid"/>
          </a:ln>
        </p:spPr>
        <p:txBody>
          <a:bodyPr/>
          <a:lstStyle/>
          <a:p>
            <a:endParaRPr lang="en-IN"/>
          </a:p>
        </p:txBody>
      </p:sp>
      <p:sp>
        <p:nvSpPr>
          <p:cNvPr id="30" name="Text 28"/>
          <p:cNvSpPr/>
          <p:nvPr/>
        </p:nvSpPr>
        <p:spPr>
          <a:xfrm>
            <a:off x="548640" y="3689604"/>
            <a:ext cx="292608" cy="292608"/>
          </a:xfrm>
          <a:prstGeom prst="rect">
            <a:avLst/>
          </a:prstGeom>
          <a:noFill/>
          <a:ln/>
        </p:spPr>
        <p:txBody>
          <a:bodyPr wrap="none" rtlCol="0" anchor="ctr"/>
          <a:lstStyle/>
          <a:p>
            <a:pPr marL="0" indent="0" algn="ctr">
              <a:buNone/>
            </a:pPr>
            <a:r>
              <a:rPr lang="en-US" sz="950" b="1" dirty="0">
                <a:solidFill>
                  <a:srgbClr val="6E6E6E"/>
                </a:solidFill>
                <a:latin typeface="Calibri" pitchFamily="34" charset="0"/>
                <a:ea typeface="Calibri" pitchFamily="34" charset="-122"/>
                <a:cs typeface="Calibri" pitchFamily="34" charset="-120"/>
              </a:rPr>
              <a:t>6</a:t>
            </a:r>
            <a:endParaRPr lang="en-US" sz="950" dirty="0"/>
          </a:p>
        </p:txBody>
      </p:sp>
      <p:sp>
        <p:nvSpPr>
          <p:cNvPr id="31" name="Text 29"/>
          <p:cNvSpPr/>
          <p:nvPr/>
        </p:nvSpPr>
        <p:spPr>
          <a:xfrm>
            <a:off x="1051560" y="3634740"/>
            <a:ext cx="2834640" cy="443484"/>
          </a:xfrm>
          <a:prstGeom prst="rect">
            <a:avLst/>
          </a:prstGeom>
          <a:noFill/>
          <a:ln/>
        </p:spPr>
        <p:txBody>
          <a:bodyPr wrap="square" rtlCol="0" anchor="ctr"/>
          <a:lstStyle/>
          <a:p>
            <a:pPr marL="0" indent="0">
              <a:buNone/>
            </a:pPr>
            <a:r>
              <a:rPr lang="en-US" sz="1200" b="1" dirty="0">
                <a:solidFill>
                  <a:srgbClr val="3D3D3D"/>
                </a:solidFill>
                <a:latin typeface="Calibri" pitchFamily="34" charset="0"/>
                <a:ea typeface="Calibri" pitchFamily="34" charset="-122"/>
                <a:cs typeface="Calibri" pitchFamily="34" charset="-120"/>
              </a:rPr>
              <a:t>Viterbi Decoding</a:t>
            </a:r>
            <a:endParaRPr lang="en-US" sz="1200" dirty="0"/>
          </a:p>
        </p:txBody>
      </p:sp>
      <p:sp>
        <p:nvSpPr>
          <p:cNvPr id="32" name="Text 30"/>
          <p:cNvSpPr/>
          <p:nvPr/>
        </p:nvSpPr>
        <p:spPr>
          <a:xfrm>
            <a:off x="3977640" y="3634740"/>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Decode most probable hidden-state regime timeline</a:t>
            </a:r>
            <a:endParaRPr lang="en-US" sz="1100" dirty="0"/>
          </a:p>
        </p:txBody>
      </p:sp>
      <p:sp>
        <p:nvSpPr>
          <p:cNvPr id="33" name="Text 31"/>
          <p:cNvSpPr/>
          <p:nvPr/>
        </p:nvSpPr>
        <p:spPr>
          <a:xfrm>
            <a:off x="10268712" y="3634740"/>
            <a:ext cx="1371600" cy="443484"/>
          </a:xfrm>
          <a:prstGeom prst="rect">
            <a:avLst/>
          </a:prstGeom>
          <a:noFill/>
          <a:ln/>
        </p:spPr>
        <p:txBody>
          <a:bodyPr wrap="square" rtlCol="0" anchor="ctr"/>
          <a:lstStyle/>
          <a:p>
            <a:pPr marL="0" indent="0" algn="r">
              <a:buNone/>
            </a:pPr>
            <a:r>
              <a:rPr lang="en-US" sz="950" b="1" kern="0" spc="50" dirty="0">
                <a:solidFill>
                  <a:srgbClr val="9C7A2E"/>
                </a:solidFill>
                <a:latin typeface="Calibri" pitchFamily="34" charset="0"/>
                <a:ea typeface="Calibri" pitchFamily="34" charset="-122"/>
                <a:cs typeface="Calibri" pitchFamily="34" charset="-120"/>
              </a:rPr>
              <a:t>PENDING</a:t>
            </a:r>
            <a:endParaRPr lang="en-US" sz="950" dirty="0"/>
          </a:p>
        </p:txBody>
      </p:sp>
      <p:sp>
        <p:nvSpPr>
          <p:cNvPr id="34" name="Shape 32"/>
          <p:cNvSpPr/>
          <p:nvPr/>
        </p:nvSpPr>
        <p:spPr>
          <a:xfrm>
            <a:off x="548640" y="4133088"/>
            <a:ext cx="292608" cy="292608"/>
          </a:xfrm>
          <a:prstGeom prst="ellipse">
            <a:avLst/>
          </a:prstGeom>
          <a:solidFill>
            <a:srgbClr val="FFFFFF"/>
          </a:solidFill>
          <a:ln w="19050">
            <a:solidFill>
              <a:srgbClr val="D9D9D9"/>
            </a:solidFill>
            <a:prstDash val="solid"/>
          </a:ln>
        </p:spPr>
        <p:txBody>
          <a:bodyPr/>
          <a:lstStyle/>
          <a:p>
            <a:endParaRPr lang="en-IN"/>
          </a:p>
        </p:txBody>
      </p:sp>
      <p:sp>
        <p:nvSpPr>
          <p:cNvPr id="35" name="Text 33"/>
          <p:cNvSpPr/>
          <p:nvPr/>
        </p:nvSpPr>
        <p:spPr>
          <a:xfrm>
            <a:off x="548640" y="4133088"/>
            <a:ext cx="292608" cy="292608"/>
          </a:xfrm>
          <a:prstGeom prst="rect">
            <a:avLst/>
          </a:prstGeom>
          <a:noFill/>
          <a:ln/>
        </p:spPr>
        <p:txBody>
          <a:bodyPr wrap="none" rtlCol="0" anchor="ctr"/>
          <a:lstStyle/>
          <a:p>
            <a:pPr marL="0" indent="0" algn="ctr">
              <a:buNone/>
            </a:pPr>
            <a:r>
              <a:rPr lang="en-US" sz="950" b="1" dirty="0">
                <a:solidFill>
                  <a:srgbClr val="6E6E6E"/>
                </a:solidFill>
                <a:latin typeface="Calibri" pitchFamily="34" charset="0"/>
                <a:ea typeface="Calibri" pitchFamily="34" charset="-122"/>
                <a:cs typeface="Calibri" pitchFamily="34" charset="-120"/>
              </a:rPr>
              <a:t>7</a:t>
            </a:r>
            <a:endParaRPr lang="en-US" sz="950" dirty="0"/>
          </a:p>
        </p:txBody>
      </p:sp>
      <p:sp>
        <p:nvSpPr>
          <p:cNvPr id="36" name="Text 34"/>
          <p:cNvSpPr/>
          <p:nvPr/>
        </p:nvSpPr>
        <p:spPr>
          <a:xfrm>
            <a:off x="1051560" y="4078224"/>
            <a:ext cx="2834640" cy="443484"/>
          </a:xfrm>
          <a:prstGeom prst="rect">
            <a:avLst/>
          </a:prstGeom>
          <a:noFill/>
          <a:ln/>
        </p:spPr>
        <p:txBody>
          <a:bodyPr wrap="square" rtlCol="0" anchor="ctr"/>
          <a:lstStyle/>
          <a:p>
            <a:pPr marL="0" indent="0">
              <a:buNone/>
            </a:pPr>
            <a:r>
              <a:rPr lang="en-US" sz="1200" b="1" dirty="0">
                <a:solidFill>
                  <a:srgbClr val="3D3D3D"/>
                </a:solidFill>
                <a:latin typeface="Calibri" pitchFamily="34" charset="0"/>
                <a:ea typeface="Calibri" pitchFamily="34" charset="-122"/>
                <a:cs typeface="Calibri" pitchFamily="34" charset="-120"/>
              </a:rPr>
              <a:t>State Interpretation</a:t>
            </a:r>
            <a:endParaRPr lang="en-US" sz="1200" dirty="0"/>
          </a:p>
        </p:txBody>
      </p:sp>
      <p:sp>
        <p:nvSpPr>
          <p:cNvPr id="37" name="Text 35"/>
          <p:cNvSpPr/>
          <p:nvPr/>
        </p:nvSpPr>
        <p:spPr>
          <a:xfrm>
            <a:off x="3977640" y="4078224"/>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Per-state statistics → Bull / Sideways / Bear labelling</a:t>
            </a:r>
            <a:endParaRPr lang="en-US" sz="1100" dirty="0"/>
          </a:p>
        </p:txBody>
      </p:sp>
      <p:sp>
        <p:nvSpPr>
          <p:cNvPr id="38" name="Text 36"/>
          <p:cNvSpPr/>
          <p:nvPr/>
        </p:nvSpPr>
        <p:spPr>
          <a:xfrm>
            <a:off x="10268712" y="4078224"/>
            <a:ext cx="1371600" cy="443484"/>
          </a:xfrm>
          <a:prstGeom prst="rect">
            <a:avLst/>
          </a:prstGeom>
          <a:noFill/>
          <a:ln/>
        </p:spPr>
        <p:txBody>
          <a:bodyPr wrap="square" rtlCol="0" anchor="ctr"/>
          <a:lstStyle/>
          <a:p>
            <a:pPr marL="0" indent="0" algn="r">
              <a:buNone/>
            </a:pPr>
            <a:r>
              <a:rPr lang="en-US" sz="950" b="1" kern="0" spc="50" dirty="0">
                <a:solidFill>
                  <a:srgbClr val="9C7A2E"/>
                </a:solidFill>
                <a:latin typeface="Calibri" pitchFamily="34" charset="0"/>
                <a:ea typeface="Calibri" pitchFamily="34" charset="-122"/>
                <a:cs typeface="Calibri" pitchFamily="34" charset="-120"/>
              </a:rPr>
              <a:t>PENDING</a:t>
            </a:r>
            <a:endParaRPr lang="en-US" sz="950" dirty="0"/>
          </a:p>
        </p:txBody>
      </p:sp>
      <p:sp>
        <p:nvSpPr>
          <p:cNvPr id="39" name="Shape 37"/>
          <p:cNvSpPr/>
          <p:nvPr/>
        </p:nvSpPr>
        <p:spPr>
          <a:xfrm>
            <a:off x="548640" y="4576572"/>
            <a:ext cx="292608" cy="292608"/>
          </a:xfrm>
          <a:prstGeom prst="ellipse">
            <a:avLst/>
          </a:prstGeom>
          <a:solidFill>
            <a:srgbClr val="FFFFFF"/>
          </a:solidFill>
          <a:ln w="19050">
            <a:solidFill>
              <a:srgbClr val="D9D9D9"/>
            </a:solidFill>
            <a:prstDash val="solid"/>
          </a:ln>
        </p:spPr>
        <p:txBody>
          <a:bodyPr/>
          <a:lstStyle/>
          <a:p>
            <a:endParaRPr lang="en-IN"/>
          </a:p>
        </p:txBody>
      </p:sp>
      <p:sp>
        <p:nvSpPr>
          <p:cNvPr id="40" name="Text 38"/>
          <p:cNvSpPr/>
          <p:nvPr/>
        </p:nvSpPr>
        <p:spPr>
          <a:xfrm>
            <a:off x="548640" y="4576572"/>
            <a:ext cx="292608" cy="292608"/>
          </a:xfrm>
          <a:prstGeom prst="rect">
            <a:avLst/>
          </a:prstGeom>
          <a:noFill/>
          <a:ln/>
        </p:spPr>
        <p:txBody>
          <a:bodyPr wrap="none" rtlCol="0" anchor="ctr"/>
          <a:lstStyle/>
          <a:p>
            <a:pPr marL="0" indent="0" algn="ctr">
              <a:buNone/>
            </a:pPr>
            <a:r>
              <a:rPr lang="en-US" sz="950" b="1" dirty="0">
                <a:solidFill>
                  <a:srgbClr val="6E6E6E"/>
                </a:solidFill>
                <a:latin typeface="Calibri" pitchFamily="34" charset="0"/>
                <a:ea typeface="Calibri" pitchFamily="34" charset="-122"/>
                <a:cs typeface="Calibri" pitchFamily="34" charset="-120"/>
              </a:rPr>
              <a:t>8</a:t>
            </a:r>
            <a:endParaRPr lang="en-US" sz="950" dirty="0"/>
          </a:p>
        </p:txBody>
      </p:sp>
      <p:sp>
        <p:nvSpPr>
          <p:cNvPr id="41" name="Text 39"/>
          <p:cNvSpPr/>
          <p:nvPr/>
        </p:nvSpPr>
        <p:spPr>
          <a:xfrm>
            <a:off x="1051560" y="4521708"/>
            <a:ext cx="2834640" cy="443484"/>
          </a:xfrm>
          <a:prstGeom prst="rect">
            <a:avLst/>
          </a:prstGeom>
          <a:noFill/>
          <a:ln/>
        </p:spPr>
        <p:txBody>
          <a:bodyPr wrap="square" rtlCol="0" anchor="ctr"/>
          <a:lstStyle/>
          <a:p>
            <a:pPr marL="0" indent="0">
              <a:buNone/>
            </a:pPr>
            <a:r>
              <a:rPr lang="en-US" sz="1200" b="1" dirty="0">
                <a:solidFill>
                  <a:srgbClr val="3D3D3D"/>
                </a:solidFill>
                <a:latin typeface="Calibri" pitchFamily="34" charset="0"/>
                <a:ea typeface="Calibri" pitchFamily="34" charset="-122"/>
                <a:cs typeface="Calibri" pitchFamily="34" charset="-120"/>
              </a:rPr>
              <a:t>Financial Analysis</a:t>
            </a:r>
            <a:endParaRPr lang="en-US" sz="1200" dirty="0"/>
          </a:p>
        </p:txBody>
      </p:sp>
      <p:sp>
        <p:nvSpPr>
          <p:cNvPr id="42" name="Text 40"/>
          <p:cNvSpPr/>
          <p:nvPr/>
        </p:nvSpPr>
        <p:spPr>
          <a:xfrm>
            <a:off x="3977640" y="4521708"/>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Regime duration, transition probabilities, forecasting</a:t>
            </a:r>
            <a:endParaRPr lang="en-US" sz="1100" dirty="0"/>
          </a:p>
        </p:txBody>
      </p:sp>
      <p:sp>
        <p:nvSpPr>
          <p:cNvPr id="43" name="Text 41"/>
          <p:cNvSpPr/>
          <p:nvPr/>
        </p:nvSpPr>
        <p:spPr>
          <a:xfrm>
            <a:off x="10268712" y="4521708"/>
            <a:ext cx="1371600" cy="443484"/>
          </a:xfrm>
          <a:prstGeom prst="rect">
            <a:avLst/>
          </a:prstGeom>
          <a:noFill/>
          <a:ln/>
        </p:spPr>
        <p:txBody>
          <a:bodyPr wrap="square" rtlCol="0" anchor="ctr"/>
          <a:lstStyle/>
          <a:p>
            <a:pPr marL="0" indent="0" algn="r">
              <a:buNone/>
            </a:pPr>
            <a:r>
              <a:rPr lang="en-US" sz="950" b="1" kern="0" spc="50" dirty="0">
                <a:solidFill>
                  <a:srgbClr val="9C7A2E"/>
                </a:solidFill>
                <a:latin typeface="Calibri" pitchFamily="34" charset="0"/>
                <a:ea typeface="Calibri" pitchFamily="34" charset="-122"/>
                <a:cs typeface="Calibri" pitchFamily="34" charset="-120"/>
              </a:rPr>
              <a:t>PENDING</a:t>
            </a:r>
            <a:endParaRPr lang="en-US" sz="950" dirty="0"/>
          </a:p>
        </p:txBody>
      </p:sp>
      <p:sp>
        <p:nvSpPr>
          <p:cNvPr id="44" name="Shape 42"/>
          <p:cNvSpPr/>
          <p:nvPr/>
        </p:nvSpPr>
        <p:spPr>
          <a:xfrm>
            <a:off x="548640" y="5020056"/>
            <a:ext cx="292608" cy="292608"/>
          </a:xfrm>
          <a:prstGeom prst="ellipse">
            <a:avLst/>
          </a:prstGeom>
          <a:solidFill>
            <a:srgbClr val="FFFFFF"/>
          </a:solidFill>
          <a:ln w="19050">
            <a:solidFill>
              <a:srgbClr val="D9D9D9"/>
            </a:solidFill>
            <a:prstDash val="solid"/>
          </a:ln>
        </p:spPr>
        <p:txBody>
          <a:bodyPr/>
          <a:lstStyle/>
          <a:p>
            <a:endParaRPr lang="en-IN"/>
          </a:p>
        </p:txBody>
      </p:sp>
      <p:sp>
        <p:nvSpPr>
          <p:cNvPr id="45" name="Text 43"/>
          <p:cNvSpPr/>
          <p:nvPr/>
        </p:nvSpPr>
        <p:spPr>
          <a:xfrm>
            <a:off x="548640" y="5020056"/>
            <a:ext cx="292608" cy="292608"/>
          </a:xfrm>
          <a:prstGeom prst="rect">
            <a:avLst/>
          </a:prstGeom>
          <a:noFill/>
          <a:ln/>
        </p:spPr>
        <p:txBody>
          <a:bodyPr wrap="none" rtlCol="0" anchor="ctr"/>
          <a:lstStyle/>
          <a:p>
            <a:pPr marL="0" indent="0" algn="ctr">
              <a:buNone/>
            </a:pPr>
            <a:r>
              <a:rPr lang="en-US" sz="950" b="1" dirty="0">
                <a:solidFill>
                  <a:srgbClr val="6E6E6E"/>
                </a:solidFill>
                <a:latin typeface="Calibri" pitchFamily="34" charset="0"/>
                <a:ea typeface="Calibri" pitchFamily="34" charset="-122"/>
                <a:cs typeface="Calibri" pitchFamily="34" charset="-120"/>
              </a:rPr>
              <a:t>9</a:t>
            </a:r>
            <a:endParaRPr lang="en-US" sz="950" dirty="0"/>
          </a:p>
        </p:txBody>
      </p:sp>
      <p:sp>
        <p:nvSpPr>
          <p:cNvPr id="46" name="Text 44"/>
          <p:cNvSpPr/>
          <p:nvPr/>
        </p:nvSpPr>
        <p:spPr>
          <a:xfrm>
            <a:off x="1051560" y="4965192"/>
            <a:ext cx="2834640" cy="443484"/>
          </a:xfrm>
          <a:prstGeom prst="rect">
            <a:avLst/>
          </a:prstGeom>
          <a:noFill/>
          <a:ln/>
        </p:spPr>
        <p:txBody>
          <a:bodyPr wrap="square" rtlCol="0" anchor="ctr"/>
          <a:lstStyle/>
          <a:p>
            <a:pPr marL="0" indent="0">
              <a:buNone/>
            </a:pPr>
            <a:r>
              <a:rPr lang="en-US" sz="1200" b="1" dirty="0">
                <a:solidFill>
                  <a:srgbClr val="3D3D3D"/>
                </a:solidFill>
                <a:latin typeface="Calibri" pitchFamily="34" charset="0"/>
                <a:ea typeface="Calibri" pitchFamily="34" charset="-122"/>
                <a:cs typeface="Calibri" pitchFamily="34" charset="-120"/>
              </a:rPr>
              <a:t>Evaluation</a:t>
            </a:r>
            <a:endParaRPr lang="en-US" sz="1200" dirty="0"/>
          </a:p>
        </p:txBody>
      </p:sp>
      <p:sp>
        <p:nvSpPr>
          <p:cNvPr id="47" name="Text 45"/>
          <p:cNvSpPr/>
          <p:nvPr/>
        </p:nvSpPr>
        <p:spPr>
          <a:xfrm>
            <a:off x="3977640" y="4965192"/>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Log-likelihood, AIC/BIC (k = 2…5), historical validation</a:t>
            </a:r>
            <a:endParaRPr lang="en-US" sz="1100" dirty="0"/>
          </a:p>
        </p:txBody>
      </p:sp>
      <p:sp>
        <p:nvSpPr>
          <p:cNvPr id="48" name="Text 46"/>
          <p:cNvSpPr/>
          <p:nvPr/>
        </p:nvSpPr>
        <p:spPr>
          <a:xfrm>
            <a:off x="10268712" y="4965192"/>
            <a:ext cx="1371600" cy="443484"/>
          </a:xfrm>
          <a:prstGeom prst="rect">
            <a:avLst/>
          </a:prstGeom>
          <a:noFill/>
          <a:ln/>
        </p:spPr>
        <p:txBody>
          <a:bodyPr wrap="square" rtlCol="0" anchor="ctr"/>
          <a:lstStyle/>
          <a:p>
            <a:pPr marL="0" indent="0" algn="r">
              <a:buNone/>
            </a:pPr>
            <a:r>
              <a:rPr lang="en-US" sz="950" b="1" kern="0" spc="50" dirty="0">
                <a:solidFill>
                  <a:srgbClr val="9C7A2E"/>
                </a:solidFill>
                <a:latin typeface="Calibri" pitchFamily="34" charset="0"/>
                <a:ea typeface="Calibri" pitchFamily="34" charset="-122"/>
                <a:cs typeface="Calibri" pitchFamily="34" charset="-120"/>
              </a:rPr>
              <a:t>PENDING</a:t>
            </a:r>
            <a:endParaRPr lang="en-US" sz="950" dirty="0"/>
          </a:p>
        </p:txBody>
      </p:sp>
      <p:sp>
        <p:nvSpPr>
          <p:cNvPr id="49" name="Shape 47"/>
          <p:cNvSpPr/>
          <p:nvPr/>
        </p:nvSpPr>
        <p:spPr>
          <a:xfrm>
            <a:off x="548640" y="5463540"/>
            <a:ext cx="347472" cy="347472"/>
          </a:xfrm>
          <a:prstGeom prst="ellipse">
            <a:avLst/>
          </a:prstGeom>
          <a:solidFill>
            <a:srgbClr val="FFFFFF"/>
          </a:solidFill>
          <a:ln w="19050">
            <a:solidFill>
              <a:srgbClr val="D9D9D9"/>
            </a:solidFill>
            <a:prstDash val="solid"/>
          </a:ln>
        </p:spPr>
        <p:txBody>
          <a:bodyPr/>
          <a:lstStyle/>
          <a:p>
            <a:endParaRPr lang="en-IN"/>
          </a:p>
        </p:txBody>
      </p:sp>
      <p:sp>
        <p:nvSpPr>
          <p:cNvPr id="50" name="Text 48"/>
          <p:cNvSpPr/>
          <p:nvPr/>
        </p:nvSpPr>
        <p:spPr>
          <a:xfrm>
            <a:off x="548640" y="5463540"/>
            <a:ext cx="347472" cy="347472"/>
          </a:xfrm>
          <a:prstGeom prst="rect">
            <a:avLst/>
          </a:prstGeom>
          <a:noFill/>
          <a:ln/>
        </p:spPr>
        <p:txBody>
          <a:bodyPr wrap="none" rtlCol="0" anchor="ctr"/>
          <a:lstStyle/>
          <a:p>
            <a:pPr marL="0" indent="0" algn="ctr">
              <a:buNone/>
            </a:pPr>
            <a:r>
              <a:rPr lang="en-US" sz="950" b="1" dirty="0">
                <a:solidFill>
                  <a:srgbClr val="6E6E6E"/>
                </a:solidFill>
                <a:latin typeface="Calibri" pitchFamily="34" charset="0"/>
                <a:ea typeface="Calibri" pitchFamily="34" charset="-122"/>
                <a:cs typeface="Calibri" pitchFamily="34" charset="-120"/>
              </a:rPr>
              <a:t>10</a:t>
            </a:r>
            <a:endParaRPr lang="en-US" sz="950" dirty="0"/>
          </a:p>
        </p:txBody>
      </p:sp>
      <p:sp>
        <p:nvSpPr>
          <p:cNvPr id="51" name="Text 49"/>
          <p:cNvSpPr/>
          <p:nvPr/>
        </p:nvSpPr>
        <p:spPr>
          <a:xfrm>
            <a:off x="1051560" y="5408676"/>
            <a:ext cx="2834640" cy="443484"/>
          </a:xfrm>
          <a:prstGeom prst="rect">
            <a:avLst/>
          </a:prstGeom>
          <a:noFill/>
          <a:ln/>
        </p:spPr>
        <p:txBody>
          <a:bodyPr wrap="square" rtlCol="0" anchor="ctr"/>
          <a:lstStyle/>
          <a:p>
            <a:pPr marL="0" indent="0">
              <a:buNone/>
            </a:pPr>
            <a:r>
              <a:rPr lang="en-US" sz="1200" b="1" dirty="0">
                <a:solidFill>
                  <a:srgbClr val="3D3D3D"/>
                </a:solidFill>
                <a:latin typeface="Calibri" pitchFamily="34" charset="0"/>
                <a:ea typeface="Calibri" pitchFamily="34" charset="-122"/>
                <a:cs typeface="Calibri" pitchFamily="34" charset="-120"/>
              </a:rPr>
              <a:t>Dashboard</a:t>
            </a:r>
            <a:endParaRPr lang="en-US" sz="1200" dirty="0"/>
          </a:p>
        </p:txBody>
      </p:sp>
      <p:sp>
        <p:nvSpPr>
          <p:cNvPr id="52" name="Text 50"/>
          <p:cNvSpPr/>
          <p:nvPr/>
        </p:nvSpPr>
        <p:spPr>
          <a:xfrm>
            <a:off x="3977640" y="5408676"/>
            <a:ext cx="6492240" cy="443484"/>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Interactive presentation of all results</a:t>
            </a:r>
            <a:endParaRPr lang="en-US" sz="1100" dirty="0"/>
          </a:p>
        </p:txBody>
      </p:sp>
      <p:sp>
        <p:nvSpPr>
          <p:cNvPr id="53" name="Text 51"/>
          <p:cNvSpPr/>
          <p:nvPr/>
        </p:nvSpPr>
        <p:spPr>
          <a:xfrm>
            <a:off x="10268712" y="5408676"/>
            <a:ext cx="1371600" cy="443484"/>
          </a:xfrm>
          <a:prstGeom prst="rect">
            <a:avLst/>
          </a:prstGeom>
          <a:noFill/>
          <a:ln/>
        </p:spPr>
        <p:txBody>
          <a:bodyPr wrap="square" rtlCol="0" anchor="ctr"/>
          <a:lstStyle/>
          <a:p>
            <a:pPr marL="0" indent="0" algn="r">
              <a:buNone/>
            </a:pPr>
            <a:r>
              <a:rPr lang="en-US" sz="950" b="1" kern="0" spc="50" dirty="0">
                <a:solidFill>
                  <a:srgbClr val="9C7A2E"/>
                </a:solidFill>
                <a:latin typeface="Calibri" pitchFamily="34" charset="0"/>
                <a:ea typeface="Calibri" pitchFamily="34" charset="-122"/>
                <a:cs typeface="Calibri" pitchFamily="34" charset="-120"/>
              </a:rPr>
              <a:t>PENDING</a:t>
            </a:r>
            <a:endParaRPr lang="en-US" sz="950" dirty="0"/>
          </a:p>
        </p:txBody>
      </p:sp>
      <p:sp>
        <p:nvSpPr>
          <p:cNvPr id="54" name="Text 52"/>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55" name="Text 53"/>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Evaluation Methodology &amp; Expected Results</a:t>
            </a:r>
            <a:endParaRPr lang="en-US" sz="2800" dirty="0"/>
          </a:p>
        </p:txBody>
      </p:sp>
      <p:sp>
        <p:nvSpPr>
          <p:cNvPr id="4" name="Text 2"/>
          <p:cNvSpPr/>
          <p:nvPr/>
        </p:nvSpPr>
        <p:spPr>
          <a:xfrm>
            <a:off x="548640" y="1417320"/>
            <a:ext cx="11091672" cy="502920"/>
          </a:xfrm>
          <a:prstGeom prst="rect">
            <a:avLst/>
          </a:prstGeom>
          <a:noFill/>
          <a:ln/>
        </p:spPr>
        <p:txBody>
          <a:bodyPr wrap="square" rtlCol="0" anchor="ctr"/>
          <a:lstStyle/>
          <a:p>
            <a:pPr marL="0" indent="0">
              <a:lnSpc>
                <a:spcPct val="115000"/>
              </a:lnSpc>
              <a:buNone/>
            </a:pPr>
            <a:r>
              <a:rPr lang="en-US" sz="1250" dirty="0">
                <a:solidFill>
                  <a:srgbClr val="3D3D3D"/>
                </a:solidFill>
                <a:latin typeface="Calibri" pitchFamily="34" charset="0"/>
                <a:ea typeface="Calibri" pitchFamily="34" charset="-122"/>
                <a:cs typeface="Calibri" pitchFamily="34" charset="-120"/>
              </a:rPr>
              <a:t>Because hidden regimes have no ground-truth labels, evaluation cannot rely on classification accuracy. The model will be assessed along five complementary dimensions:</a:t>
            </a:r>
            <a:endParaRPr lang="en-US" sz="1250" dirty="0"/>
          </a:p>
        </p:txBody>
      </p:sp>
      <p:sp>
        <p:nvSpPr>
          <p:cNvPr id="5" name="Text 3"/>
          <p:cNvSpPr/>
          <p:nvPr/>
        </p:nvSpPr>
        <p:spPr>
          <a:xfrm>
            <a:off x="548640" y="2057400"/>
            <a:ext cx="2743200" cy="457200"/>
          </a:xfrm>
          <a:prstGeom prst="rect">
            <a:avLst/>
          </a:prstGeom>
          <a:noFill/>
          <a:ln/>
        </p:spPr>
        <p:txBody>
          <a:bodyPr wrap="square" rtlCol="0" anchor="t"/>
          <a:lstStyle/>
          <a:p>
            <a:pPr marL="0" indent="0">
              <a:buNone/>
            </a:pPr>
            <a:r>
              <a:rPr lang="en-US" sz="1250" b="1" dirty="0">
                <a:solidFill>
                  <a:srgbClr val="2E5AAC"/>
                </a:solidFill>
                <a:latin typeface="Calibri" pitchFamily="34" charset="0"/>
                <a:ea typeface="Calibri" pitchFamily="34" charset="-122"/>
                <a:cs typeface="Calibri" pitchFamily="34" charset="-120"/>
              </a:rPr>
              <a:t>Log-likelihood</a:t>
            </a:r>
            <a:endParaRPr lang="en-US" sz="1250" dirty="0"/>
          </a:p>
        </p:txBody>
      </p:sp>
      <p:sp>
        <p:nvSpPr>
          <p:cNvPr id="6" name="Text 4"/>
          <p:cNvSpPr/>
          <p:nvPr/>
        </p:nvSpPr>
        <p:spPr>
          <a:xfrm>
            <a:off x="3383280" y="2057400"/>
            <a:ext cx="8257032" cy="457200"/>
          </a:xfrm>
          <a:prstGeom prst="rect">
            <a:avLst/>
          </a:prstGeom>
          <a:noFill/>
          <a:ln/>
        </p:spPr>
        <p:txBody>
          <a:bodyPr wrap="square" rtlCol="0" anchor="t"/>
          <a:lstStyle/>
          <a:p>
            <a:pPr marL="0" indent="0">
              <a:buNone/>
            </a:pPr>
            <a:r>
              <a:rPr lang="en-US" sz="1200" dirty="0">
                <a:solidFill>
                  <a:srgbClr val="3D3D3D"/>
                </a:solidFill>
                <a:latin typeface="Calibri" pitchFamily="34" charset="0"/>
                <a:ea typeface="Calibri" pitchFamily="34" charset="-122"/>
                <a:cs typeface="Calibri" pitchFamily="34" charset="-120"/>
              </a:rPr>
              <a:t>log P(X | λ) — how well the trained model explains observed data</a:t>
            </a:r>
            <a:endParaRPr lang="en-US" sz="1200" dirty="0"/>
          </a:p>
        </p:txBody>
      </p:sp>
      <p:sp>
        <p:nvSpPr>
          <p:cNvPr id="7" name="Text 5"/>
          <p:cNvSpPr/>
          <p:nvPr/>
        </p:nvSpPr>
        <p:spPr>
          <a:xfrm>
            <a:off x="548640" y="2514600"/>
            <a:ext cx="2743200" cy="457200"/>
          </a:xfrm>
          <a:prstGeom prst="rect">
            <a:avLst/>
          </a:prstGeom>
          <a:noFill/>
          <a:ln/>
        </p:spPr>
        <p:txBody>
          <a:bodyPr wrap="square" rtlCol="0" anchor="t"/>
          <a:lstStyle/>
          <a:p>
            <a:pPr marL="0" indent="0">
              <a:buNone/>
            </a:pPr>
            <a:r>
              <a:rPr lang="en-US" sz="1250" b="1" dirty="0">
                <a:solidFill>
                  <a:srgbClr val="2E5AAC"/>
                </a:solidFill>
                <a:latin typeface="Calibri" pitchFamily="34" charset="0"/>
                <a:ea typeface="Calibri" pitchFamily="34" charset="-122"/>
                <a:cs typeface="Calibri" pitchFamily="34" charset="-120"/>
              </a:rPr>
              <a:t>AIC / BIC</a:t>
            </a:r>
            <a:endParaRPr lang="en-US" sz="1250" dirty="0"/>
          </a:p>
        </p:txBody>
      </p:sp>
      <p:sp>
        <p:nvSpPr>
          <p:cNvPr id="8" name="Text 6"/>
          <p:cNvSpPr/>
          <p:nvPr/>
        </p:nvSpPr>
        <p:spPr>
          <a:xfrm>
            <a:off x="3383280" y="2514600"/>
            <a:ext cx="8257032" cy="457200"/>
          </a:xfrm>
          <a:prstGeom prst="rect">
            <a:avLst/>
          </a:prstGeom>
          <a:noFill/>
          <a:ln/>
        </p:spPr>
        <p:txBody>
          <a:bodyPr wrap="square" rtlCol="0" anchor="t"/>
          <a:lstStyle/>
          <a:p>
            <a:pPr marL="0" indent="0">
              <a:buNone/>
            </a:pPr>
            <a:r>
              <a:rPr lang="en-US" sz="1200" dirty="0">
                <a:solidFill>
                  <a:srgbClr val="3D3D3D"/>
                </a:solidFill>
                <a:latin typeface="Calibri" pitchFamily="34" charset="0"/>
                <a:ea typeface="Calibri" pitchFamily="34" charset="-122"/>
                <a:cs typeface="Calibri" pitchFamily="34" charset="-120"/>
              </a:rPr>
              <a:t>Fit-vs-complexity trade-off, used to justify the chosen number of states k</a:t>
            </a:r>
            <a:endParaRPr lang="en-US" sz="1200" dirty="0"/>
          </a:p>
        </p:txBody>
      </p:sp>
      <p:sp>
        <p:nvSpPr>
          <p:cNvPr id="9" name="Text 7"/>
          <p:cNvSpPr/>
          <p:nvPr/>
        </p:nvSpPr>
        <p:spPr>
          <a:xfrm>
            <a:off x="548640" y="2971800"/>
            <a:ext cx="2743200" cy="457200"/>
          </a:xfrm>
          <a:prstGeom prst="rect">
            <a:avLst/>
          </a:prstGeom>
          <a:noFill/>
          <a:ln/>
        </p:spPr>
        <p:txBody>
          <a:bodyPr wrap="square" rtlCol="0" anchor="t"/>
          <a:lstStyle/>
          <a:p>
            <a:pPr marL="0" indent="0">
              <a:buNone/>
            </a:pPr>
            <a:r>
              <a:rPr lang="en-US" sz="1250" b="1" dirty="0">
                <a:solidFill>
                  <a:srgbClr val="2E5AAC"/>
                </a:solidFill>
                <a:latin typeface="Calibri" pitchFamily="34" charset="0"/>
                <a:ea typeface="Calibri" pitchFamily="34" charset="-122"/>
                <a:cs typeface="Calibri" pitchFamily="34" charset="-120"/>
              </a:rPr>
              <a:t>Financial interpretability</a:t>
            </a:r>
            <a:endParaRPr lang="en-US" sz="1250" dirty="0"/>
          </a:p>
        </p:txBody>
      </p:sp>
      <p:sp>
        <p:nvSpPr>
          <p:cNvPr id="10" name="Text 8"/>
          <p:cNvSpPr/>
          <p:nvPr/>
        </p:nvSpPr>
        <p:spPr>
          <a:xfrm>
            <a:off x="3383280" y="2971800"/>
            <a:ext cx="8257032" cy="457200"/>
          </a:xfrm>
          <a:prstGeom prst="rect">
            <a:avLst/>
          </a:prstGeom>
          <a:noFill/>
          <a:ln/>
        </p:spPr>
        <p:txBody>
          <a:bodyPr wrap="square" rtlCol="0" anchor="t"/>
          <a:lstStyle/>
          <a:p>
            <a:pPr marL="0" indent="0">
              <a:buNone/>
            </a:pPr>
            <a:r>
              <a:rPr lang="en-US" sz="1200" dirty="0">
                <a:solidFill>
                  <a:srgbClr val="3D3D3D"/>
                </a:solidFill>
                <a:latin typeface="Calibri" pitchFamily="34" charset="0"/>
                <a:ea typeface="Calibri" pitchFamily="34" charset="-122"/>
                <a:cs typeface="Calibri" pitchFamily="34" charset="-120"/>
              </a:rPr>
              <a:t>Whether discovered states show clearly distinct mean return, volatility, volume</a:t>
            </a:r>
            <a:endParaRPr lang="en-US" sz="1200" dirty="0"/>
          </a:p>
        </p:txBody>
      </p:sp>
      <p:sp>
        <p:nvSpPr>
          <p:cNvPr id="11" name="Text 9"/>
          <p:cNvSpPr/>
          <p:nvPr/>
        </p:nvSpPr>
        <p:spPr>
          <a:xfrm>
            <a:off x="548640" y="3429000"/>
            <a:ext cx="2743200" cy="457200"/>
          </a:xfrm>
          <a:prstGeom prst="rect">
            <a:avLst/>
          </a:prstGeom>
          <a:noFill/>
          <a:ln/>
        </p:spPr>
        <p:txBody>
          <a:bodyPr wrap="square" rtlCol="0" anchor="t"/>
          <a:lstStyle/>
          <a:p>
            <a:pPr marL="0" indent="0">
              <a:buNone/>
            </a:pPr>
            <a:r>
              <a:rPr lang="en-US" sz="1250" b="1" dirty="0">
                <a:solidFill>
                  <a:srgbClr val="2E5AAC"/>
                </a:solidFill>
                <a:latin typeface="Calibri" pitchFamily="34" charset="0"/>
                <a:ea typeface="Calibri" pitchFamily="34" charset="-122"/>
                <a:cs typeface="Calibri" pitchFamily="34" charset="-120"/>
              </a:rPr>
              <a:t>Regime stability</a:t>
            </a:r>
            <a:endParaRPr lang="en-US" sz="1250" dirty="0"/>
          </a:p>
        </p:txBody>
      </p:sp>
      <p:sp>
        <p:nvSpPr>
          <p:cNvPr id="12" name="Text 10"/>
          <p:cNvSpPr/>
          <p:nvPr/>
        </p:nvSpPr>
        <p:spPr>
          <a:xfrm>
            <a:off x="3383280" y="3429000"/>
            <a:ext cx="8257032" cy="457200"/>
          </a:xfrm>
          <a:prstGeom prst="rect">
            <a:avLst/>
          </a:prstGeom>
          <a:noFill/>
          <a:ln/>
        </p:spPr>
        <p:txBody>
          <a:bodyPr wrap="square" rtlCol="0" anchor="t"/>
          <a:lstStyle/>
          <a:p>
            <a:pPr marL="0" indent="0">
              <a:buNone/>
            </a:pPr>
            <a:r>
              <a:rPr lang="en-US" sz="1200" dirty="0">
                <a:solidFill>
                  <a:srgbClr val="3D3D3D"/>
                </a:solidFill>
                <a:latin typeface="Calibri" pitchFamily="34" charset="0"/>
                <a:ea typeface="Calibri" pitchFamily="34" charset="-122"/>
                <a:cs typeface="Calibri" pitchFamily="34" charset="-120"/>
              </a:rPr>
              <a:t>Whether decoding yields persistent regimes rather than implausible daily switching</a:t>
            </a:r>
            <a:endParaRPr lang="en-US" sz="1200" dirty="0"/>
          </a:p>
        </p:txBody>
      </p:sp>
      <p:sp>
        <p:nvSpPr>
          <p:cNvPr id="13" name="Text 11"/>
          <p:cNvSpPr/>
          <p:nvPr/>
        </p:nvSpPr>
        <p:spPr>
          <a:xfrm>
            <a:off x="548640" y="3886200"/>
            <a:ext cx="2743200" cy="457200"/>
          </a:xfrm>
          <a:prstGeom prst="rect">
            <a:avLst/>
          </a:prstGeom>
          <a:noFill/>
          <a:ln/>
        </p:spPr>
        <p:txBody>
          <a:bodyPr wrap="square" rtlCol="0" anchor="t"/>
          <a:lstStyle/>
          <a:p>
            <a:pPr marL="0" indent="0">
              <a:buNone/>
            </a:pPr>
            <a:r>
              <a:rPr lang="en-US" sz="1250" b="1" dirty="0">
                <a:solidFill>
                  <a:srgbClr val="2E5AAC"/>
                </a:solidFill>
                <a:latin typeface="Calibri" pitchFamily="34" charset="0"/>
                <a:ea typeface="Calibri" pitchFamily="34" charset="-122"/>
                <a:cs typeface="Calibri" pitchFamily="34" charset="-120"/>
              </a:rPr>
              <a:t>Historical validation</a:t>
            </a:r>
            <a:endParaRPr lang="en-US" sz="1250" dirty="0"/>
          </a:p>
        </p:txBody>
      </p:sp>
      <p:sp>
        <p:nvSpPr>
          <p:cNvPr id="14" name="Text 12"/>
          <p:cNvSpPr/>
          <p:nvPr/>
        </p:nvSpPr>
        <p:spPr>
          <a:xfrm>
            <a:off x="3383280" y="3886200"/>
            <a:ext cx="8257032" cy="457200"/>
          </a:xfrm>
          <a:prstGeom prst="rect">
            <a:avLst/>
          </a:prstGeom>
          <a:noFill/>
          <a:ln/>
        </p:spPr>
        <p:txBody>
          <a:bodyPr wrap="square" rtlCol="0" anchor="t"/>
          <a:lstStyle/>
          <a:p>
            <a:pPr marL="0" indent="0">
              <a:buNone/>
            </a:pPr>
            <a:r>
              <a:rPr lang="en-US" sz="1200" dirty="0">
                <a:solidFill>
                  <a:srgbClr val="3D3D3D"/>
                </a:solidFill>
                <a:latin typeface="Calibri" pitchFamily="34" charset="0"/>
                <a:ea typeface="Calibri" pitchFamily="34" charset="-122"/>
                <a:cs typeface="Calibri" pitchFamily="34" charset="-120"/>
              </a:rPr>
              <a:t>Whether known downturns/crashes align with decoded high-volatility Bear regimes</a:t>
            </a:r>
            <a:endParaRPr lang="en-US" sz="1200" dirty="0"/>
          </a:p>
        </p:txBody>
      </p:sp>
      <p:sp>
        <p:nvSpPr>
          <p:cNvPr id="15" name="Shape 13"/>
          <p:cNvSpPr/>
          <p:nvPr/>
        </p:nvSpPr>
        <p:spPr>
          <a:xfrm>
            <a:off x="548640" y="4434840"/>
            <a:ext cx="11091672" cy="0"/>
          </a:xfrm>
          <a:prstGeom prst="line">
            <a:avLst/>
          </a:prstGeom>
          <a:noFill/>
          <a:ln w="9525">
            <a:solidFill>
              <a:srgbClr val="D9D9D9"/>
            </a:solidFill>
            <a:prstDash val="solid"/>
          </a:ln>
        </p:spPr>
        <p:txBody>
          <a:bodyPr/>
          <a:lstStyle/>
          <a:p>
            <a:endParaRPr lang="en-IN"/>
          </a:p>
        </p:txBody>
      </p:sp>
      <p:sp>
        <p:nvSpPr>
          <p:cNvPr id="16" name="Text 14"/>
          <p:cNvSpPr/>
          <p:nvPr/>
        </p:nvSpPr>
        <p:spPr>
          <a:xfrm>
            <a:off x="548640" y="4617720"/>
            <a:ext cx="110916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Expected Results (post-implementation)</a:t>
            </a:r>
            <a:endParaRPr lang="en-US" sz="1400" dirty="0"/>
          </a:p>
        </p:txBody>
      </p:sp>
      <p:sp>
        <p:nvSpPr>
          <p:cNvPr id="17" name="Text 15"/>
          <p:cNvSpPr/>
          <p:nvPr/>
        </p:nvSpPr>
        <p:spPr>
          <a:xfrm>
            <a:off x="548640" y="4983480"/>
            <a:ext cx="11091672" cy="1554480"/>
          </a:xfrm>
          <a:prstGeom prst="rect">
            <a:avLst/>
          </a:prstGeom>
          <a:noFill/>
          <a:ln/>
        </p:spPr>
        <p:txBody>
          <a:bodyPr wrap="square" rtlCol="0" anchor="t"/>
          <a:lstStyle/>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Transition matrix with strong diagonal dominance, reflecting well-documented persistence of market regimes</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Emission signatures mapping highest mean return → Bull, most negative mean return + highest volatility → Bear, low-conviction → Sideways</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Expected regime duration E[D_i] = 1 / (1 − p_ii) under a geometric persistence assumption</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Next-regime probability P(Sₜ₊₁ | Sₜ) for short-horizon forecasting</a:t>
            </a:r>
            <a:endParaRPr lang="en-US" sz="1150" dirty="0"/>
          </a:p>
        </p:txBody>
      </p:sp>
      <p:sp>
        <p:nvSpPr>
          <p:cNvPr id="18" name="Text 16"/>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19" name="Text 17"/>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marL="0" indent="0">
              <a:buNone/>
            </a:pPr>
            <a:r>
              <a:rPr lang="en-US" sz="1200" b="1" kern="0" spc="150" dirty="0">
                <a:solidFill>
                  <a:srgbClr val="2E5AAC"/>
                </a:solidFill>
                <a:latin typeface="Calibri" pitchFamily="34" charset="0"/>
                <a:ea typeface="Calibri" pitchFamily="34" charset="-122"/>
                <a:cs typeface="Calibri" pitchFamily="34" charset="-120"/>
              </a:rPr>
              <a:t>STATUS &amp; OUTLOOK</a:t>
            </a:r>
            <a:endParaRPr lang="en-US" sz="1200" dirty="0"/>
          </a:p>
        </p:txBody>
      </p:sp>
      <p:sp>
        <p:nvSpPr>
          <p:cNvPr id="3" name="Text 1"/>
          <p:cNvSpPr/>
          <p:nvPr/>
        </p:nvSpPr>
        <p:spPr>
          <a:xfrm>
            <a:off x="548640" y="658368"/>
            <a:ext cx="11091672"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Current Progress and Next Steps</a:t>
            </a:r>
            <a:endParaRPr lang="en-US" sz="2800" dirty="0"/>
          </a:p>
        </p:txBody>
      </p:sp>
      <p:sp>
        <p:nvSpPr>
          <p:cNvPr id="4" name="Shape 2"/>
          <p:cNvSpPr/>
          <p:nvPr/>
        </p:nvSpPr>
        <p:spPr>
          <a:xfrm>
            <a:off x="548640" y="1417320"/>
            <a:ext cx="11091672" cy="1051560"/>
          </a:xfrm>
          <a:prstGeom prst="rect">
            <a:avLst/>
          </a:prstGeom>
          <a:solidFill>
            <a:srgbClr val="EAF2EC"/>
          </a:solidFill>
          <a:ln w="9525">
            <a:solidFill>
              <a:srgbClr val="3E7A4E"/>
            </a:solidFill>
            <a:prstDash val="solid"/>
          </a:ln>
        </p:spPr>
        <p:txBody>
          <a:bodyPr/>
          <a:lstStyle/>
          <a:p>
            <a:endParaRPr lang="en-IN"/>
          </a:p>
        </p:txBody>
      </p:sp>
      <p:sp>
        <p:nvSpPr>
          <p:cNvPr id="5" name="Text 3"/>
          <p:cNvSpPr/>
          <p:nvPr/>
        </p:nvSpPr>
        <p:spPr>
          <a:xfrm>
            <a:off x="822960" y="1417320"/>
            <a:ext cx="10543032" cy="1051560"/>
          </a:xfrm>
          <a:prstGeom prst="rect">
            <a:avLst/>
          </a:prstGeom>
          <a:noFill/>
          <a:ln/>
        </p:spPr>
        <p:txBody>
          <a:bodyPr wrap="square" rtlCol="0" anchor="ctr"/>
          <a:lstStyle/>
          <a:p>
            <a:pPr marL="0" indent="0">
              <a:lnSpc>
                <a:spcPct val="120000"/>
              </a:lnSpc>
              <a:buNone/>
            </a:pPr>
            <a:r>
              <a:rPr lang="en-US" sz="1250" dirty="0">
                <a:solidFill>
                  <a:srgbClr val="1B2A4A"/>
                </a:solidFill>
                <a:latin typeface="Calibri" pitchFamily="34" charset="0"/>
                <a:ea typeface="Calibri" pitchFamily="34" charset="-122"/>
                <a:cs typeface="Calibri" pitchFamily="34" charset="-120"/>
              </a:rPr>
              <a:t>Progress to date: Data acquisition, exploratory analysis, feature engineering, and preprocessing are complete. The standardised multivariate observation matrix (return, volatility, volume, momentum) is ready. Model initialisation and algorithm implementation (Baum–Welch, Viterbi) are the next steps.</a:t>
            </a:r>
            <a:endParaRPr lang="en-US" sz="1250" dirty="0"/>
          </a:p>
        </p:txBody>
      </p:sp>
      <p:sp>
        <p:nvSpPr>
          <p:cNvPr id="6" name="Text 4"/>
          <p:cNvSpPr/>
          <p:nvPr/>
        </p:nvSpPr>
        <p:spPr>
          <a:xfrm>
            <a:off x="548640" y="2743200"/>
            <a:ext cx="5271516"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Scope &amp; Limitations</a:t>
            </a:r>
            <a:endParaRPr lang="en-US" sz="1400" dirty="0"/>
          </a:p>
        </p:txBody>
      </p:sp>
      <p:sp>
        <p:nvSpPr>
          <p:cNvPr id="7" name="Text 5"/>
          <p:cNvSpPr/>
          <p:nvPr/>
        </p:nvSpPr>
        <p:spPr>
          <a:xfrm>
            <a:off x="548640" y="3063240"/>
            <a:ext cx="5271516" cy="2194560"/>
          </a:xfrm>
          <a:prstGeom prst="rect">
            <a:avLst/>
          </a:prstGeom>
          <a:noFill/>
          <a:ln/>
        </p:spPr>
        <p:txBody>
          <a:bodyPr wrap="square" rtlCol="0" anchor="t"/>
          <a:lstStyle/>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Fixed, small number of hidden states (k = 3)</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First-order Markov assumption is a simplification</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Regime labels assigned post-hoc, without universal ground truth</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Single index (S&amp;P 500); cross-market generalisation left as future work</a:t>
            </a:r>
            <a:endParaRPr lang="en-US" sz="1150" dirty="0"/>
          </a:p>
        </p:txBody>
      </p:sp>
      <p:sp>
        <p:nvSpPr>
          <p:cNvPr id="8" name="Text 6"/>
          <p:cNvSpPr/>
          <p:nvPr/>
        </p:nvSpPr>
        <p:spPr>
          <a:xfrm>
            <a:off x="6368796" y="2743200"/>
            <a:ext cx="5271516"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Immediate Next Steps</a:t>
            </a:r>
            <a:endParaRPr lang="en-US" sz="1400" dirty="0"/>
          </a:p>
        </p:txBody>
      </p:sp>
      <p:sp>
        <p:nvSpPr>
          <p:cNvPr id="9" name="Text 7"/>
          <p:cNvSpPr/>
          <p:nvPr/>
        </p:nvSpPr>
        <p:spPr>
          <a:xfrm>
            <a:off x="6368796" y="3063240"/>
            <a:ext cx="5271516" cy="2194560"/>
          </a:xfrm>
          <a:prstGeom prst="rect">
            <a:avLst/>
          </a:prstGeom>
          <a:noFill/>
          <a:ln/>
        </p:spPr>
        <p:txBody>
          <a:bodyPr wrap="square" rtlCol="0" anchor="t"/>
          <a:lstStyle/>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Implement Forward, Backward, Baum–Welch, Viterbi from first principles in NumPy; validate on synthetic data</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Initialise and train the Gaussian-emission HMM (k = 3) on the S&amp;P 500 observation matrix</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Decode regimes with Viterbi, interpret and label states, then evaluate with log-likelihood / AIC-BIC</a:t>
            </a:r>
            <a:endParaRPr lang="en-US" sz="1150" dirty="0"/>
          </a:p>
          <a:p>
            <a:pPr marL="228600" indent="-228600">
              <a:lnSpc>
                <a:spcPct val="112000"/>
              </a:lnSpc>
              <a:spcAft>
                <a:spcPts val="1000"/>
              </a:spcAft>
              <a:buSzPct val="100000"/>
              <a:buChar char="•"/>
            </a:pPr>
            <a:r>
              <a:rPr lang="en-US" sz="1150" dirty="0">
                <a:solidFill>
                  <a:srgbClr val="3D3D3D"/>
                </a:solidFill>
                <a:latin typeface="Calibri" pitchFamily="34" charset="0"/>
                <a:ea typeface="Calibri" pitchFamily="34" charset="-122"/>
                <a:cs typeface="Calibri" pitchFamily="34" charset="-120"/>
              </a:rPr>
              <a:t>Build the interactive dashboard for final presentation</a:t>
            </a:r>
            <a:endParaRPr lang="en-US" sz="1150" dirty="0"/>
          </a:p>
        </p:txBody>
      </p:sp>
      <p:sp>
        <p:nvSpPr>
          <p:cNvPr id="10" name="Shape 8"/>
          <p:cNvSpPr/>
          <p:nvPr/>
        </p:nvSpPr>
        <p:spPr>
          <a:xfrm>
            <a:off x="548640" y="5623560"/>
            <a:ext cx="11091672" cy="0"/>
          </a:xfrm>
          <a:prstGeom prst="line">
            <a:avLst/>
          </a:prstGeom>
          <a:noFill/>
          <a:ln w="9525">
            <a:solidFill>
              <a:srgbClr val="D9D9D9"/>
            </a:solidFill>
            <a:prstDash val="solid"/>
          </a:ln>
        </p:spPr>
        <p:txBody>
          <a:bodyPr/>
          <a:lstStyle/>
          <a:p>
            <a:endParaRPr lang="en-IN"/>
          </a:p>
        </p:txBody>
      </p:sp>
      <p:sp>
        <p:nvSpPr>
          <p:cNvPr id="12" name="Text 10"/>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Hidden Market States — HMM Regime Detection on S&amp;P 500</a:t>
            </a:r>
            <a:endParaRPr lang="en-US" sz="900" dirty="0"/>
          </a:p>
        </p:txBody>
      </p:sp>
      <p:sp>
        <p:nvSpPr>
          <p:cNvPr id="13" name="Text 11"/>
          <p:cNvSpPr/>
          <p:nvPr/>
        </p:nvSpPr>
        <p:spPr>
          <a:xfrm>
            <a:off x="11091672" y="6473952"/>
            <a:ext cx="548640" cy="274320"/>
          </a:xfrm>
          <a:prstGeom prst="rect">
            <a:avLst/>
          </a:prstGeom>
          <a:noFill/>
          <a:ln/>
        </p:spPr>
        <p:txBody>
          <a:bodyPr wrap="square"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1985</Words>
  <Application>Microsoft Office PowerPoint</Application>
  <PresentationFormat>Widescreen</PresentationFormat>
  <Paragraphs>239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Nirmal A R</cp:lastModifiedBy>
  <cp:revision>3</cp:revision>
  <dcterms:created xsi:type="dcterms:W3CDTF">2026-08-17T18:02:47Z</dcterms:created>
  <dcterms:modified xsi:type="dcterms:W3CDTF">2026-09-29T03:57:51Z</dcterms:modified>
</cp:coreProperties>
</file>